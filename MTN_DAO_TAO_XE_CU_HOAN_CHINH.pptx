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0" r:id="rId31"/>
    <p:sldId id="277" r:id="rId23"/>
    <p:sldId id="278" r:id="rId24"/>
    <p:sldId id="279" r:id="rId25"/>
    <p:sldId id="281" r:id="rId32"/>
    <p:sldId id="282" r:id="rId33"/>
    <p:sldId id="283" r:id="rId34"/>
    <p:sldId id="284" r:id="rId35"/>
    <p:sldId id="285" r:id="rId36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22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0" y="0"/>
            <a:ext cx="3657600" cy="6858000"/>
          </a:xfrm>
          <a:prstGeom prst="rtTriangl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B30000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75488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◆  ◆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75488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KỸ NĂNG BÁN HÀNG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754880" y="3200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ĐÃ QUA SỬ DỤNG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754880" y="4206240"/>
            <a:ext cx="6858000" cy="0"/>
          </a:xfrm>
          <a:prstGeom prst="line">
            <a:avLst/>
          </a:prstGeom>
          <a:noFill/>
          <a:ln w="25400">
            <a:solidFill>
              <a:srgbClr val="E600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754880" y="4434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trình đào tạo nội bộ · Phòng Kinh doanh Xe ĐQSD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48006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Tháng 5 / 2026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</a:rPr>
              <a:t>1 / 30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trình đào tạo – 6 phần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phần là một viên gạch trong bộ kỹ năng bán hàng xe đã qua sử dụng chuyên nghiệp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86400" cy="123444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783080"/>
            <a:ext cx="960120" cy="12344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960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64592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QUAN &amp; TỔ CHỨC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242316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sự · Chỉ tiêu · Tiêu chuẩn kho xe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55080" y="1783080"/>
            <a:ext cx="5486400" cy="123444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355080" y="1783080"/>
            <a:ext cx="960120" cy="12344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355080" y="1783080"/>
            <a:ext cx="960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745236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THỊ TRƯỜNG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452360" y="242316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mạnh-yếu · Lý do KH chọn ĐL chính hãng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154680"/>
            <a:ext cx="5486400" cy="123444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3154680"/>
            <a:ext cx="960120" cy="12344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8640" y="3154680"/>
            <a:ext cx="960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645920" y="33375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THỨC SẢN PHẨM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45920" y="379476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điểm · Pháp lý · Đăng kiểm · Bảo hiểm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55080" y="3154680"/>
            <a:ext cx="5486400" cy="123444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355080" y="3154680"/>
            <a:ext cx="960120" cy="12344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355080" y="3154680"/>
            <a:ext cx="960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452360" y="33375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BẢO HÀNH &amp; CAM KẾT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52360" y="379476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Động cơ · Hộp số · 7 cam kết · Xử lý sự cố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526280"/>
            <a:ext cx="5486400" cy="123444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548640" y="4526280"/>
            <a:ext cx="960120" cy="12344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48640" y="4526280"/>
            <a:ext cx="960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1645920" y="4709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 BÁN HÀNG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645920" y="516636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Thanh toán · Sang tên · Lái thử · Giao xe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55080" y="4526280"/>
            <a:ext cx="5486400" cy="123444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355080" y="4526280"/>
            <a:ext cx="960120" cy="12344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355080" y="4526280"/>
            <a:ext cx="960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7452360" y="4709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VAY NH &amp; TÌNH HUỐNG KHÓ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452360" y="516636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Hồ sơ NH · 8 tình huống · Hành động ngay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30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27889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QUAN &amp; TỔ CHỨC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4160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sự · Chỉ tiêu · Tiêu chuẩn kho xe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4800600"/>
            <a:ext cx="1371600" cy="0"/>
          </a:xfrm>
          <a:prstGeom prst="line">
            <a:avLst/>
          </a:prstGeom>
          <a:noFill/>
          <a:ln w="38100">
            <a:solidFill>
              <a:srgbClr val="E6001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6126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30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lợi ích TVBH có được khi bán xe đã qua sử dụng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Hiểu đúng lợi ích → Chủ động tìm kiếm khách hàng và cơ hội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640080" cy="640080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71600" y="17373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 TĂNG DATA KHÁCH HÀNG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0756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Bán xe cũ mở rộng tệp KH vượt ra ngoài nhóm mua xe mới – những người cần xe nhưng có ngân sách hạn chế hơn cũng trở thành KH tiềm năng mua xe mới trong tương lai.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371600" y="2606040"/>
            <a:ext cx="10241280" cy="0"/>
          </a:xfrm>
          <a:prstGeom prst="line">
            <a:avLst/>
          </a:prstGeom>
          <a:noFill/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670048"/>
            <a:ext cx="640080" cy="640080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26700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💰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26243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 TĂNG DOANH SỐ CÔNG 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2962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Thêm một kênh doanh thu song song với xe mới – TVBH có nhiều sản phẩm hơn để đáp ứng nhu cầu đa dạng, từ đó tăng tỷ lệ chuyển đổi khách thành giao dịch.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371600" y="3493008"/>
            <a:ext cx="10241280" cy="0"/>
          </a:xfrm>
          <a:prstGeom prst="line">
            <a:avLst/>
          </a:prstGeom>
          <a:noFill/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3557016"/>
            <a:ext cx="640080" cy="640080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355701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🚗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71600" y="351129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NHẬP TỪ BÁN XE CŨ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384962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Hoa hồng từ mỗi xe cũ bán thành công cộng thêm vào thu nhập – đặc biệt trong những tháng xe mới khan hàng, xe cũ là nguồn thu nhập bổ sung ổn định.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371600" y="4379976"/>
            <a:ext cx="10241280" cy="0"/>
          </a:xfrm>
          <a:prstGeom prst="line">
            <a:avLst/>
          </a:prstGeom>
          <a:noFill/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48640" y="4443984"/>
            <a:ext cx="640080" cy="640080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48640" y="44439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🔄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371600" y="439826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NHẬP TỪ THU MUA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71600" y="473659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Hỗ trợ khách Trade-in khi mua xe mới không chỉ tạo thêm thu nhập mà còn giúp TVBH chốt deal xe mới dễ hơn – đây là đòn bẩy kép hiệu quả.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371600" y="5266944"/>
            <a:ext cx="10241280" cy="0"/>
          </a:xfrm>
          <a:prstGeom prst="line">
            <a:avLst/>
          </a:prstGeom>
          <a:noFill/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48640" y="5330952"/>
            <a:ext cx="640080" cy="640080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53309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📱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371600" y="52852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THƯƠNG HIỆU CÁ NHÂN 4.0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71600" y="56235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video xe cũ trên TikTok, YouTube, Facebook thu hút lượng xem lớn và tự nhiên – đây là kênh tìm kiếm KH bền vững nhất hiện nay.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30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 chức nhân sự bộ phận xe đã qua sử dụng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công rõ ràng – mỗi vai trò có nhiệm vụ và trách nhiệm cụ thể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657600" cy="443484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783080"/>
            <a:ext cx="3657600" cy="5029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 VẤN BÁN HÀNG (TVBH)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423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Học sản phẩm xe cũ &amp; quy trình bán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5800" y="28072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Tìm kiếm khách hàng tiềm năng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319125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Tư vấn sản phẩm – chốt deal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5800" y="357530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Soạn thảo hợp đồng, hồ sơ vay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39593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Đốc thúc khách thanh toán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85800" y="43434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Hướng dẫn KH ra phòng công chứng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47274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Hoàn tất thủ tục xuất hóa đơn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85800" y="511149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Cà số khung, số máy, tháo biển số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5800" y="549554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Hoàn tất đăng ký &amp; bàn giao xe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43400" y="1783080"/>
            <a:ext cx="3657600" cy="443484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343400" y="1783080"/>
            <a:ext cx="3657600" cy="50292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343400" y="1783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 PHẬN THU MUA (4 người)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2423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Thu mua xe đầu vào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480560" y="28072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Đảm bảo hồ sơ pháp lý đầy đủ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480560" y="319125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Hỗ trợ sang tên nhanh chóng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0560" y="357530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Giải đáp vướng mắc pháp lý cho TVBH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480560" y="39593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 Nhân sự hỗ trợ ──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480560" y="43434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Admin: hồ sơ nhập/xuất, tiến độ dọn xe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80560" y="47274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Admin: chụp hình, cập nhật giá bán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480560" y="511149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Admin: gửi soạn công chứng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480560" y="549554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Admin: tổng hợp hồ sơ thu hồi biển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138160" y="1783080"/>
            <a:ext cx="3657600" cy="443484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8138160" y="1783080"/>
            <a:ext cx="3657600" cy="502920"/>
          </a:xfrm>
          <a:prstGeom prst="rect">
            <a:avLst/>
          </a:prstGeom>
          <a:solidFill>
            <a:srgbClr val="C9A961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138160" y="1783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LÝ KHO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75320" y="2423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Theo dõi quá trình làm đẹp xe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275320" y="28072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Kiểm tra chất lượng 167 điểm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275320" y="319125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Quản lý xe tồn kho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75320" y="357530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Hỗ trợ chuẩn bị xe trước giao KH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275320" y="39593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 Chỉ tiêu ──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75320" y="43434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Tồn kho sẵn sàng bán: 25–30 xe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275320" y="47274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Chỉ tiêu bán: 40 xe / tháng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75320" y="511149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275320" y="549554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30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chuẩn chất lượng kho xe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xe phải đạt chuẩn trước khi đưa vào stock bán – không ngoại lệ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73152" cy="7772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783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176479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 ĐIỂM KIỂM TRA KỸ THUẬT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0756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xe được kiểm định theo checklist 167 hạng mục: động cơ, hộp số, hệ thống lái, phanh, điện, nội/ngoại thất. Hạng mục không đạt phải sửa chữa hoặc thay thế trước khi nhập kho.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670048"/>
            <a:ext cx="73152" cy="7772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2670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265176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VỆ SINH &amp; TÂN TRANG TOÀN DIỆN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2962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xe được: đánh bóng thân vỏ · vệ sinh khoang động cơ · vệ sinh nội thất – gầm · thay nhớt &amp; lọc nhớt · thay phụ tùng định kỳ. Xe phải thơm, sạch, bắt mắt khi KH xem.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57016"/>
            <a:ext cx="73152" cy="7772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5570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53872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CHUẨN NGOẠI THẤT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384962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trầy móp lớn · sơn đều màu toàn xe · mâm xe không trầy đáng kể · gai lốp đảm bảo an toàn. Đây là ấn tượng đầu tiên – quyết định 70% cảm xúc của khách.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443984"/>
            <a:ext cx="73152" cy="7772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77240" y="44439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4425696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CHUẨN NỘI THẤT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71600" y="473659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Sạch sẽ, thơm tho, không ẩm mốc · da ghế không nhàu/rách · taplo không nứt nẻ lớn · thảm sàn không bẩn. Nội thất sạch tạo cảm giác xe được chăm sóc tốt.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330952"/>
            <a:ext cx="73152" cy="7772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77240" y="53309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71600" y="5312664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CHIẾN LƯỢC GIÁ CHÀO BÁN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71600" y="56235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Luôn để giá chào bán cao hơn các đại lý khác và salon – vì chất lượng được đảm bảo, có bảo hành, có cam kết. TVBH cần tự tin giữ giá và truyền đạt giá trị khác biệt cho KH.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30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27889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THỊ TRƯỜNG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4160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mạnh-yếu · Lý do KH chọn ĐL chính hãng · 5 yếu tố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4800600"/>
            <a:ext cx="1371600" cy="0"/>
          </a:xfrm>
          <a:prstGeom prst="line">
            <a:avLst/>
          </a:prstGeom>
          <a:noFill/>
          <a:ln w="38100">
            <a:solidFill>
              <a:srgbClr val="E6001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6126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30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điểm mạnh – điểm yếu trên thị trường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Hiểu đối thủ để định vị đúng – biết mình để tư vấn tự tin hơn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86400" cy="4434840"/>
          </a:xfrm>
          <a:prstGeom prst="rect">
            <a:avLst/>
          </a:prstGeom>
          <a:solidFill>
            <a:srgbClr val="E8F5EC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783080"/>
            <a:ext cx="5486400" cy="502920"/>
          </a:xfrm>
          <a:prstGeom prst="rect">
            <a:avLst/>
          </a:prstGeom>
          <a:solidFill>
            <a:srgbClr val="1B7F3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ĐIỂM MẠNH – MITSUBISHI TÂY NINH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4231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7F3A"/>
                </a:solidFill>
              </a:rPr>
              <a:t>◆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51560" y="2423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Ủy quyền chính hãng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267919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MMV ủy quyền – nguồn gốc minh bạch, pháp lý rõ ràng 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31729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7F3A"/>
                </a:solidFill>
              </a:rPr>
              <a:t>◆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51560" y="31729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mô &amp; chuyên môn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51560" y="3429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Showroom đạt chuẩn toàn cầu, KTV chuyên sâu xe Mitsubishi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92277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7F3A"/>
                </a:solidFill>
              </a:rPr>
              <a:t>◆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" y="392277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One-Stop Shopping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1560" y="41788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 mua xe, BH, vay NH, BD tại một địa điểm duy nhất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467258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7F3A"/>
                </a:solidFill>
              </a:rPr>
              <a:t>◆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51560" y="46725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Bảo hành &amp; cam kết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51560" y="492861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 12T/20.000km, cam kết bằng văn bản: không đâm đụng, không thủy kích, không tua ODO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542239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7F3A"/>
                </a:solidFill>
              </a:rPr>
              <a:t>◆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51560" y="54223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Chính sách 3B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51560" y="567842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Bảo hành · Bảo vệ giá · Bảo tín – tạo niềm tin vượt trội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26480" y="1783080"/>
            <a:ext cx="5486400" cy="4434840"/>
          </a:xfrm>
          <a:prstGeom prst="rect">
            <a:avLst/>
          </a:prstGeom>
          <a:solidFill>
            <a:srgbClr val="FCEEEE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126480" y="1783080"/>
            <a:ext cx="5486400" cy="502920"/>
          </a:xfrm>
          <a:prstGeom prst="rect">
            <a:avLst/>
          </a:prstGeom>
          <a:solidFill>
            <a:srgbClr val="E8A31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126480" y="17830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ĐIỂM YẾU CẦN KHẮC PHỤC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55080" y="24231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17"/>
                </a:solidFill>
              </a:rPr>
              <a:t>■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29400" y="2423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 cao hơn salon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629400" y="26791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 nhạy cảm giá so với salon tư nhân → Cần truyền đạt giá trị: BH, pháp lý, tân trang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55080" y="33375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17"/>
                </a:solidFill>
              </a:rPr>
              <a:t>■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629400" y="3337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 xe hạn chế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629400" y="35935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lượng &amp; chủng loại không phong phú bằng salon lớn → Nắm chắc stock, tư vấn thay thế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55080" y="42519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17"/>
                </a:solidFill>
              </a:rPr>
              <a:t>■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629400" y="4251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 xe cũ còn hạn chế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629400" y="45079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TVBH quen xe mới → Học sản phẩm, thực hành 21 điểm trên từng xe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5080" y="51663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17"/>
                </a:solidFill>
              </a:rPr>
              <a:t>■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629400" y="5166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Thủ tục sang tên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29400" y="5422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Nhiều bước, KH dễ bỏ cuộc → Hỗ trợ toàn diện, hướng dẫn từng bước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30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khách hàng chọn đại lý chính hãng?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TVBH phải hiểu và truyền đạt được 6 lý do này khi tư vấn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65760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783080"/>
            <a:ext cx="3657600" cy="914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659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24231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 TƯỞNG THƯƠNG HIỆU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Đại lý chính hãng Mitsubishi quy mô lớn, hoạt động lâu năm, uy tín toàn cầu. KH yên tâm khi mua xe nơi có địa chỉ rõ ràng.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43400" y="1783080"/>
            <a:ext cx="365760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343400" y="1783080"/>
            <a:ext cx="3657600" cy="914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526280" y="19659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526280" y="24231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YÊN TÂM CHẤT LƯỢNG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26280" y="283464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được kiểm 167 điểm kỹ thuật, tân trang đúng chuẩn. KH không phải tự đánh giá – đại lý đã làm thay với KTV chuyên nghiệp.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783080"/>
            <a:ext cx="365760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138160" y="1783080"/>
            <a:ext cx="3657600" cy="914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321040" y="19659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1040" y="24231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PHÁP LÝ MINH BẠCH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21040" y="283464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gốc xe rõ ràng, lịch sử kiểm tra. Cam kết bằng văn bản. Không sang tên được → thu hồi &amp; hoàn trả tiền toàn bộ.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069080"/>
            <a:ext cx="365760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4069080"/>
            <a:ext cx="3657600" cy="914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" y="42519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31520" y="47091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BẢO HÀNH CHÍNH HÃNG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" y="512064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 12 tháng/20.000km – động cơ &amp; hộp số. KH mua xe cũ vẫn có BH như xe mới: lợi thế tuyệt đối so với salon tư nhân.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343400" y="4069080"/>
            <a:ext cx="365760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343400" y="4069080"/>
            <a:ext cx="3657600" cy="914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526280" y="42519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4526280" y="47091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VỤ TOÀN DIỆN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512064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Xưởng dịch vụ Mitsubishi đầy đủ thiết bị hiện đại, KTV giàu chuyên môn. Sau khi mua, KH có chỗ BD uy tín.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4069080"/>
            <a:ext cx="365760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8138160" y="4069080"/>
            <a:ext cx="3657600" cy="914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321040" y="42519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8321040" y="47091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CHÍNH SÁCH 3B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321040" y="512064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BẢO HÀNH (12T/20.000km) · BẢO VỆ GIÁ (thu lại / ký gởi miễn phí) · BẢO TÍN (cam kết không phạt nguội, không thế chấp).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30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yếu tố khách hàng dùng để quyết định mua xe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TVBH cần chuẩn bị và kiểm soát tốt cả 5 yếu tố này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194560" cy="4434840"/>
          </a:xfrm>
          <a:prstGeom prst="rect">
            <a:avLst/>
          </a:prstGeom>
          <a:solidFill>
            <a:srgbClr val="FFFFFF"/>
          </a:solidFill>
          <a:ln w="25400">
            <a:solidFill>
              <a:srgbClr val="E60012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325880" y="1417320"/>
            <a:ext cx="640080" cy="640080"/>
          </a:xfrm>
          <a:prstGeom prst="ellipse">
            <a:avLst/>
          </a:prstGeom>
          <a:solidFill>
            <a:srgbClr val="E60012"/>
          </a:solidFill>
          <a:ln w="381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32588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SẢN PHẨM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88720" y="3474720"/>
            <a:ext cx="91440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85800" y="3611880"/>
            <a:ext cx="1920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Hiểu rõ xe KH quan tâm: thông số, phụ kiện, điểm nổi bật. Nhấn mạnh tính năng phù hợp nhu cầu KH cụ thể.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85800" y="5669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Học thuộc 21 điểm trên mỗi xe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34640" y="1783080"/>
            <a:ext cx="2194560" cy="4434840"/>
          </a:xfrm>
          <a:prstGeom prst="rect">
            <a:avLst/>
          </a:prstGeom>
          <a:solidFill>
            <a:srgbClr val="FFFFFF"/>
          </a:solidFill>
          <a:ln w="25400">
            <a:solidFill>
              <a:srgbClr val="C9A961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611880" y="1417320"/>
            <a:ext cx="640080" cy="640080"/>
          </a:xfrm>
          <a:prstGeom prst="ellipse">
            <a:avLst/>
          </a:prstGeom>
          <a:solidFill>
            <a:srgbClr val="C9A961"/>
          </a:solidFill>
          <a:ln w="381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61188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834640" y="2240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💲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2834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 BÁN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474720" y="3474720"/>
            <a:ext cx="914400" cy="0"/>
          </a:xfrm>
          <a:prstGeom prst="line">
            <a:avLst/>
          </a:prstGeom>
          <a:noFill/>
          <a:ln w="12700">
            <a:solidFill>
              <a:srgbClr val="C9A96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971800" y="3611880"/>
            <a:ext cx="1920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 phụ thuộc: chất lượng, km, màu, option, độ phổ biến. TVBH không tự ý giảm giá – trình bày giá trị để KH cảm nhận giá hợp lý.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971800" y="5669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 sánh giá trị, không so số tiền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120640" y="1783080"/>
            <a:ext cx="2194560" cy="4434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F36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5897880" y="1417320"/>
            <a:ext cx="640080" cy="640080"/>
          </a:xfrm>
          <a:prstGeom prst="ellipse">
            <a:avLst/>
          </a:prstGeom>
          <a:solidFill>
            <a:srgbClr val="1A1F36"/>
          </a:solidFill>
          <a:ln w="381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89788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120640" y="2240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🏢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5120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NƠI BÁN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0" y="3474720"/>
            <a:ext cx="914400" cy="0"/>
          </a:xfrm>
          <a:prstGeom prst="line">
            <a:avLst/>
          </a:prstGeom>
          <a:noFill/>
          <a:ln w="12700">
            <a:solidFill>
              <a:srgbClr val="1A1F36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257800" y="3611880"/>
            <a:ext cx="1920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Đại lý chính hãng, showroom rộng, xưởng dịch vụ đầy đủ, BH rõ ràng. Mua tại đây = an toàn, không lo lắng như salon nhỏ.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257800" y="5669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Tự hào về thương hiệu Mitsubishi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406640" y="1783080"/>
            <a:ext cx="2194560" cy="4434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B7F3A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8183880" y="1417320"/>
            <a:ext cx="640080" cy="640080"/>
          </a:xfrm>
          <a:prstGeom prst="ellipse">
            <a:avLst/>
          </a:prstGeom>
          <a:solidFill>
            <a:srgbClr val="1B7F3A"/>
          </a:solidFill>
          <a:ln w="381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18388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406640" y="2240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👤</a:t>
            </a:r>
            <a:endParaRPr lang="en-US" sz="3600" dirty="0"/>
          </a:p>
        </p:txBody>
      </p:sp>
      <p:sp>
        <p:nvSpPr>
          <p:cNvPr id="34" name="Text 32"/>
          <p:cNvSpPr/>
          <p:nvPr/>
        </p:nvSpPr>
        <p:spPr>
          <a:xfrm>
            <a:off x="7406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B7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TVBH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046720" y="3474720"/>
            <a:ext cx="914400" cy="0"/>
          </a:xfrm>
          <a:prstGeom prst="line">
            <a:avLst/>
          </a:prstGeom>
          <a:noFill/>
          <a:ln w="12700">
            <a:solidFill>
              <a:srgbClr val="1B7F3A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7543800" y="3611880"/>
            <a:ext cx="1920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Lời nói + khuôn mặt + kiến thức + tác phong = niềm tin. KH mua người trước, mua xe sau. TVBH là yếu tố con người quyết định.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543800" y="5669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1B7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Lịch sự, tự tin, kiến thức vững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692640" y="1783080"/>
            <a:ext cx="2194560" cy="4434840"/>
          </a:xfrm>
          <a:prstGeom prst="rect">
            <a:avLst/>
          </a:prstGeom>
          <a:solidFill>
            <a:srgbClr val="FFFFFF"/>
          </a:solidFill>
          <a:ln w="25400">
            <a:solidFill>
              <a:srgbClr val="2C2C2C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10469880" y="1417320"/>
            <a:ext cx="640080" cy="640080"/>
          </a:xfrm>
          <a:prstGeom prst="ellipse">
            <a:avLst/>
          </a:prstGeom>
          <a:solidFill>
            <a:srgbClr val="2C2C2C"/>
          </a:solidFill>
          <a:ln w="381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046988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692640" y="2240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🛡</a:t>
            </a:r>
            <a:endParaRPr lang="en-US" sz="3600" dirty="0"/>
          </a:p>
        </p:txBody>
      </p:sp>
      <p:sp>
        <p:nvSpPr>
          <p:cNvPr id="42" name="Text 40"/>
          <p:cNvSpPr/>
          <p:nvPr/>
        </p:nvSpPr>
        <p:spPr>
          <a:xfrm>
            <a:off x="9692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BÁN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0332720" y="3474720"/>
            <a:ext cx="914400" cy="0"/>
          </a:xfrm>
          <a:prstGeom prst="line">
            <a:avLst/>
          </a:prstGeom>
          <a:noFill/>
          <a:ln w="12700">
            <a:solidFill>
              <a:srgbClr val="2C2C2C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9829800" y="3611880"/>
            <a:ext cx="1920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BH, BD định kỳ, chính sách quay đầu (thu mua lại). KH cần biết đại lý không 'bán xong bỏ' – cam kết dài hạn là lợi thế.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9829800" y="5669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Trình bày 3B ngay buổi tư vấn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30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27889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THỨC SẢN PHẨM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4160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điểm · Pháp lý · Đăng kiểm · Bảo hiểm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4800600"/>
            <a:ext cx="1371600" cy="0"/>
          </a:xfrm>
          <a:prstGeom prst="line">
            <a:avLst/>
          </a:prstGeom>
          <a:noFill/>
          <a:ln w="38100">
            <a:solidFill>
              <a:srgbClr val="E6001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6126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30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pháp lý về xe ô tô cũ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TVBH phải nắm để tư vấn tự tin, tránh sai sót nghiêm trọng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64240" cy="77724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874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NGUYÊN TẮC QUAN TRỌNG NHẤT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Tất cả các xe sang tên đều được </a:t>
            </a:r>
            <a:pPr indent="0" marL="0">
              <a:buNone/>
            </a:pPr>
            <a:r>
              <a:rPr lang="en-US" sz="1400" b="1" dirty="0">
                <a:solidFill>
                  <a:srgbClr val="E60012"/>
                </a:solidFill>
              </a:rPr>
              <a:t>CẤP BIỂN SỐ MỚI</a:t>
            </a:r>
            <a:pPr indent="0" marL="0">
              <a:buNone/>
            </a:pPr>
            <a:r>
              <a:rPr lang="en-US" sz="1200" i="1" dirty="0">
                <a:solidFill>
                  <a:srgbClr val="B8BDC4"/>
                </a:solidFill>
              </a:rPr>
              <a:t>  (Ngoại lệ: KH có biển định danh)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5486400" cy="3566160"/>
          </a:xfrm>
          <a:prstGeom prst="rect">
            <a:avLst/>
          </a:prstGeom>
          <a:solidFill>
            <a:srgbClr val="F5F7FA"/>
          </a:solidFill>
          <a:ln w="19050">
            <a:solidFill>
              <a:srgbClr val="1A1F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743200"/>
            <a:ext cx="5486400" cy="45720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2743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TƯ NHÂN – CÔNG CHỨNG MUA BÁN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337560"/>
            <a:ext cx="292608" cy="292608"/>
          </a:xfrm>
          <a:prstGeom prst="ellipse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97280" y="33192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Pháp lý đầu vào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97280" y="35661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Hợp đồng ủy quyền – chủ xe ký ủy quyền cho NV thu mua đại lý ký HĐMB tại phòng công chứng và nhận giải ngân từ NH.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85800" y="4050792"/>
            <a:ext cx="292608" cy="292608"/>
          </a:xfrm>
          <a:prstGeom prst="ellipse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" y="4050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97280" y="40325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Thủ tục bán ra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97280" y="42793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Đại lý (người được ủy quyền) ký HĐ mua bán tại VPCC với Bên Mua.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5800" y="4764024"/>
            <a:ext cx="292608" cy="292608"/>
          </a:xfrm>
          <a:prstGeom prst="ellipse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5800" y="4764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97280" y="47457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Bên mua cá nhân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97280" y="49926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Cần CCCD + Xác nhận cư trú.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85800" y="5477256"/>
            <a:ext cx="292608" cy="292608"/>
          </a:xfrm>
          <a:prstGeom prst="ellipse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85800" y="5477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97280" y="54589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Bên mua công ty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97280" y="5705856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có VAT đầu vào (xe cá nhân không xuất HĐ). Vẫn được khấu hao chi phí nếu thanh toán CK từ TK doanh nghiệp.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26480" y="2743200"/>
            <a:ext cx="5486400" cy="3566160"/>
          </a:xfrm>
          <a:prstGeom prst="rect">
            <a:avLst/>
          </a:prstGeom>
          <a:solidFill>
            <a:srgbClr val="F5F7FA"/>
          </a:solidFill>
          <a:ln w="19050">
            <a:solidFill>
              <a:srgbClr val="E60012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126480" y="2743200"/>
            <a:ext cx="5486400" cy="45720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126480" y="2743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DOANH NGHIỆP – XUẤT HÓA ĐƠN VAT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63640" y="3337560"/>
            <a:ext cx="292608" cy="292608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26364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75120" y="33192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Pháp lý đầu vào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75120" y="35661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ty bán xuất HĐ VAT cho Đại lý. Đại lý ghi nhận HĐ đầu vào.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63640" y="4050792"/>
            <a:ext cx="292608" cy="292608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63640" y="4050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675120" y="40325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Thủ tục bán ra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75120" y="427939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Đại lý xuất HĐ VAT cho Bên Mua. Công thức: Giá HĐ đầu vào + Lợi nhuận = Giá HĐ xuất ra.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63640" y="4764024"/>
            <a:ext cx="292608" cy="292608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263640" y="4764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75120" y="47457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ý TVBH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49926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Phải thông báo rõ giá trị xuất HĐ. Tránh KH hiểu nhầm xuất đủ 100% giá xe.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263640" y="5477256"/>
            <a:ext cx="292608" cy="292608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263640" y="5477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675120" y="54589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chênh lệch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675120" y="5705856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Giữa giá bán thực tế và giá xuất HĐ → thu bằng Phiếu hoàn ứng vốn.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điểm TVBH phải nắm vững về mỗi chiếc xe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biết thông tin xe → không thể tư vấn → mất deal. Học thuộc trước khi gặp khách.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78308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Chủng loại xe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178308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97680" y="178308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29768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Phiên bản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46720" y="178308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04672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sản xuất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242316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48640" y="242316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486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88720" y="2423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km đã sử dụng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297680" y="242316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297680" y="242316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29768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2423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Loại hộp số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46720" y="242316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46720" y="242316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467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686800" y="2423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Nhiên liệu &amp; tiêu hao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306324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548640" y="306324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48640" y="3063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88720" y="30632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Màu xe &amp; phong thủy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297680" y="306324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297680" y="306324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297680" y="3063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937760" y="30632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kiện đã lắp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046720" y="306324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8046720" y="306324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046720" y="3063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686800" y="30632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Lịch sử bảo dưỡng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8640" y="370332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548640" y="370332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5486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188720" y="3703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kiểm &amp; phạt nguội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4297680" y="370332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4297680" y="370332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429768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4937760" y="3703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nghệ &amp; tính năng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046720" y="370332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8046720" y="370332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804672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686800" y="3703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Chế độ bảo hành CPO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548640" y="434340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48640" y="434340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54864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188720" y="4343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cam kết của đại lý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4297680" y="434340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4297680" y="434340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429768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4937760" y="4343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Tỷ lệ sơn zin (%)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8046720" y="434340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8046720" y="434340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804672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</a:t>
            </a:r>
            <a:endParaRPr lang="en-US" sz="1400" dirty="0"/>
          </a:p>
        </p:txBody>
      </p:sp>
      <p:sp>
        <p:nvSpPr>
          <p:cNvPr id="65" name="Text 63"/>
          <p:cNvSpPr/>
          <p:nvPr/>
        </p:nvSpPr>
        <p:spPr>
          <a:xfrm>
            <a:off x="8686800" y="4343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 lái thử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548640" y="498348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548640" y="498348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54864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</a:t>
            </a:r>
            <a:endParaRPr lang="en-US" sz="1400" dirty="0"/>
          </a:p>
        </p:txBody>
      </p:sp>
      <p:sp>
        <p:nvSpPr>
          <p:cNvPr id="69" name="Text 67"/>
          <p:cNvSpPr/>
          <p:nvPr/>
        </p:nvSpPr>
        <p:spPr>
          <a:xfrm>
            <a:off x="1188720" y="4983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Thủ tục cá nhân/công ty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4297680" y="498348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4297680" y="498348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429768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1400" dirty="0"/>
          </a:p>
        </p:txBody>
      </p:sp>
      <p:sp>
        <p:nvSpPr>
          <p:cNvPr id="73" name="Text 71"/>
          <p:cNvSpPr/>
          <p:nvPr/>
        </p:nvSpPr>
        <p:spPr>
          <a:xfrm>
            <a:off x="4937760" y="4983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phí sang tên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8046720" y="498348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5" name="Shape 73"/>
          <p:cNvSpPr/>
          <p:nvPr/>
        </p:nvSpPr>
        <p:spPr>
          <a:xfrm>
            <a:off x="8046720" y="498348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804672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</a:t>
            </a:r>
            <a:endParaRPr lang="en-US" sz="1400" dirty="0"/>
          </a:p>
        </p:txBody>
      </p:sp>
      <p:sp>
        <p:nvSpPr>
          <p:cNvPr id="77" name="Text 75"/>
          <p:cNvSpPr/>
          <p:nvPr/>
        </p:nvSpPr>
        <p:spPr>
          <a:xfrm>
            <a:off x="8686800" y="4983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 tên &amp; chuyển vùng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548640" y="562356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548640" y="562356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80" name="Text 78"/>
          <p:cNvSpPr/>
          <p:nvPr/>
        </p:nvSpPr>
        <p:spPr>
          <a:xfrm>
            <a:off x="548640" y="5623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19</a:t>
            </a:r>
            <a:endParaRPr lang="en-US" sz="1400" dirty="0"/>
          </a:p>
        </p:txBody>
      </p:sp>
      <p:sp>
        <p:nvSpPr>
          <p:cNvPr id="81" name="Text 79"/>
          <p:cNvSpPr/>
          <p:nvPr/>
        </p:nvSpPr>
        <p:spPr>
          <a:xfrm>
            <a:off x="1188720" y="5623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Thủ tục mua trả góp</a:t>
            </a:r>
            <a:endParaRPr lang="en-US" sz="1150" dirty="0"/>
          </a:p>
        </p:txBody>
      </p:sp>
      <p:sp>
        <p:nvSpPr>
          <p:cNvPr id="82" name="Shape 80"/>
          <p:cNvSpPr/>
          <p:nvPr/>
        </p:nvSpPr>
        <p:spPr>
          <a:xfrm>
            <a:off x="4297680" y="562356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83" name="Shape 81"/>
          <p:cNvSpPr/>
          <p:nvPr/>
        </p:nvSpPr>
        <p:spPr>
          <a:xfrm>
            <a:off x="4297680" y="562356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4297680" y="5623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</a:t>
            </a:r>
            <a:endParaRPr lang="en-US" sz="1400" dirty="0"/>
          </a:p>
        </p:txBody>
      </p:sp>
      <p:sp>
        <p:nvSpPr>
          <p:cNvPr id="85" name="Text 83"/>
          <p:cNvSpPr/>
          <p:nvPr/>
        </p:nvSpPr>
        <p:spPr>
          <a:xfrm>
            <a:off x="4937760" y="5623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 giao xe</a:t>
            </a:r>
            <a:endParaRPr lang="en-US" sz="1150" dirty="0"/>
          </a:p>
        </p:txBody>
      </p:sp>
      <p:sp>
        <p:nvSpPr>
          <p:cNvPr id="86" name="Shape 84"/>
          <p:cNvSpPr/>
          <p:nvPr/>
        </p:nvSpPr>
        <p:spPr>
          <a:xfrm>
            <a:off x="8046720" y="5623560"/>
            <a:ext cx="3611880" cy="54864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87" name="Shape 85"/>
          <p:cNvSpPr/>
          <p:nvPr/>
        </p:nvSpPr>
        <p:spPr>
          <a:xfrm>
            <a:off x="8046720" y="5623560"/>
            <a:ext cx="548640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88" name="Text 86"/>
          <p:cNvSpPr/>
          <p:nvPr/>
        </p:nvSpPr>
        <p:spPr>
          <a:xfrm>
            <a:off x="8046720" y="5623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21</a:t>
            </a:r>
            <a:endParaRPr lang="en-US" sz="1400" dirty="0"/>
          </a:p>
        </p:txBody>
      </p:sp>
      <p:sp>
        <p:nvSpPr>
          <p:cNvPr id="89" name="Text 87"/>
          <p:cNvSpPr/>
          <p:nvPr/>
        </p:nvSpPr>
        <p:spPr>
          <a:xfrm>
            <a:off x="8686800" y="5623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Chăm sóc sau bán</a:t>
            </a:r>
            <a:endParaRPr lang="en-US" sz="1150" dirty="0"/>
          </a:p>
        </p:txBody>
      </p:sp>
      <p:sp>
        <p:nvSpPr>
          <p:cNvPr id="90" name="Shape 88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Giấy đăng kiểm &amp; Bảo hiểm xe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hạng mục này ảnh hưởng trực tiếp đến chi phí phát sinh sau khi KH nhận xe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86400" cy="443484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783080"/>
            <a:ext cx="5486400" cy="50292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GIẤY ĐĂNG KIỂM XE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3774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0012"/>
                </a:solidFill>
              </a:rPr>
              <a:t>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35915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 hạn đăng kiểm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60120" y="26060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trước khi bàn giao. Sắp hết hạn → tư vấn KH chi phí đăng kiểm lại.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30175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0012"/>
                </a:solidFill>
              </a:rPr>
              <a:t>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29992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bán tải có nắp thùng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60120" y="32461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 vấn KH chi phí cải tạo để hợp lệ khi đăng kiểm.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" y="3657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0012"/>
                </a:solidFill>
              </a:rPr>
              <a:t>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bán tải không nắp thùng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60120" y="3886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Phí cải tạo tháo bỏ nắp (nếu có lắp thêm) để đạt chuẩn đăng kiểm.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2976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0012"/>
                </a:solidFill>
              </a:rPr>
              <a:t>▸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42793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vướng cải tạo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60120" y="45262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số xe độ tính năng không hợp quy → phí hoàn nguyên. Phải kiểm tra &amp; báo trước.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49377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0012"/>
                </a:solidFill>
              </a:rPr>
              <a:t>▸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0120" y="49194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âm đường bộ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60120" y="5166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 phí đường bộ – nếu âm thì KH đóng trước khi đăng ký xe.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1520" y="5577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0012"/>
                </a:solidFill>
              </a:rPr>
              <a:t>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" y="555955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Biển số mới sau sang tên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0120" y="58064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xe sang tên đổi chủ đều cấp biển mới (trừ biển định danh).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26480" y="1783080"/>
            <a:ext cx="5486400" cy="443484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126480" y="1783080"/>
            <a:ext cx="5486400" cy="502920"/>
          </a:xfrm>
          <a:prstGeom prst="rect">
            <a:avLst/>
          </a:prstGeom>
          <a:solidFill>
            <a:srgbClr val="1B7F3A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126480" y="17830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 BẢO HIỂM XE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309360" y="23774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7F3A"/>
                </a:solidFill>
              </a:rPr>
              <a:t>▸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37960" y="235915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 TNDS bắt buộc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537960" y="2606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 xe lưu thông phải có. Tư vấn KH mua mới tại đại lý → tăng doanh thu BH.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09360" y="31455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7F3A"/>
                </a:solidFill>
              </a:rPr>
              <a:t>▸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537960" y="31272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 tự nguyện (vật chất)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537960" y="3374136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 vấn song song với TNDS. Xe đã tân trang đẹp → không bị loại trừ tổn thất.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309360" y="39136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7F3A"/>
                </a:solidFill>
              </a:rPr>
              <a:t>▸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537960" y="38953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Lợi thế khi mua tại đại lý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537960" y="414223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được tân trang trước khi mua BHVC → không bị loại trừ tổn thất cũ.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09360" y="468172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7F3A"/>
                </a:solidFill>
              </a:rPr>
              <a:t>▸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37960" y="4663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cũ KHÔNG có BHVC khi lái thử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537960" y="49103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xảy ra tổn thất → KH chịu phí. Phải nói rõ trong giấy cam kết lái thử.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09360" y="54498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7F3A"/>
                </a:solidFill>
              </a:rPr>
              <a:t>▸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537960" y="543153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 tư vấn BH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537960" y="5678424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Chào TNDS · 2) Đề xuất vật chất · 3) Giải thích lợi ích · 4) Chốt khi ký HĐ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30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27889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BẢO HÀNH &amp; CAM KẾT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4160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Động cơ · Hộp số · 7 cam kết · Xử lý sự cố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4800600"/>
            <a:ext cx="1371600" cy="0"/>
          </a:xfrm>
          <a:prstGeom prst="line">
            <a:avLst/>
          </a:prstGeom>
          <a:noFill/>
          <a:ln w="38100">
            <a:solidFill>
              <a:srgbClr val="E6001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6126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30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Chế độ bảo hành xe đã qua sử dụng – Tổng quan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TVBH phải trình bày đúng và đầy đủ – không nói chung chung 'xe có bảo hành'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64240" cy="640080"/>
          </a:xfrm>
          <a:prstGeom prst="rect">
            <a:avLst/>
          </a:prstGeom>
          <a:solidFill>
            <a:srgbClr val="E8A31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828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LÝ DO QUAN TRỌNG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 không hài lòng về BH = TVBH chỉ nói chung chung 'xe cũ có bảo hành' mà không giải thích rõ BH gồm những gì → KH mang xe đến sửa, bị từ chối → phàn nàn, mất uy tín.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269748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B7F3A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606040"/>
            <a:ext cx="2697480" cy="365760"/>
          </a:xfrm>
          <a:prstGeom prst="rect">
            <a:avLst/>
          </a:prstGeom>
          <a:solidFill>
            <a:srgbClr val="1B7F3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26060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TRONG 10 NĂM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0632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7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tháng / 20.000 km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356616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 toàn diện: Động cơ + Hộp số theo điều kiện quy định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37560" y="2606040"/>
            <a:ext cx="269748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8A31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337560" y="2606040"/>
            <a:ext cx="2697480" cy="365760"/>
          </a:xfrm>
          <a:prstGeom prst="rect">
            <a:avLst/>
          </a:prstGeom>
          <a:solidFill>
            <a:srgbClr val="E8A31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337560" y="26060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TRÊN 10 NĂM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37560" y="30632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tháng / 5.000 km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74720" y="356616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&amp; quãng đường ngắn hơn – cần thông báo rõ cho KH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26480" y="2606040"/>
            <a:ext cx="269748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F36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126480" y="2606040"/>
            <a:ext cx="2697480" cy="36576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126480" y="26060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 16 CHỖ ≤ 5 NĂM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26480" y="30632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tháng / 12.000 km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263640" y="356616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Áp dụng riêng cho xe chở khách 16 chỗ trong 5 năm đầu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915400" y="2606040"/>
            <a:ext cx="269748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60012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915400" y="2606040"/>
            <a:ext cx="2697480" cy="36576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915400" y="26060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TẢI VAN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915400" y="30632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BẢO HÀNH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052560" y="356616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tải van không áp dụng CPO – thông báo rõ khi tư vấn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48640" y="45262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 XỬ LÝ KHI XE HƯ HỎNG TRONG BẢO HÀNH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4846320"/>
            <a:ext cx="2697480" cy="141732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31520" y="5029200"/>
            <a:ext cx="411480" cy="411480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31520" y="5029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34440" y="504748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1  ·  KH thông báo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1520" y="55321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 liên hệ TVBH/BP Dịch vụ. Nhận đủ thông tin: triệu chứng, km, ngày.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337560" y="4846320"/>
            <a:ext cx="2697480" cy="141732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3520440" y="5029200"/>
            <a:ext cx="411480" cy="411480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520440" y="5029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023360" y="504748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2  ·  KH đưa xe đến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520440" y="55321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Yêu cầu mang xe đến đại lý. KH chịu phí vận chuyển nếu xe không tự chạy.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4846320"/>
            <a:ext cx="2697480" cy="141732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6309360" y="5029200"/>
            <a:ext cx="411480" cy="411480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309360" y="5029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812280" y="504748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3  ·  KTV xác định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309360" y="55321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KTV kiểm tra &amp; xác định nguyên nhân. Trong BH → ĐL trả. Ngoài BH → KH trả.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915400" y="4846320"/>
            <a:ext cx="2697480" cy="141732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9098280" y="5029200"/>
            <a:ext cx="411480" cy="411480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9098280" y="5029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601200" y="504748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4  ·  Thông báo KH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098280" y="55321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TVBH chủ động liên hệ KH thông báo kết quả &amp; giải thích rõ lý do nếu ngoài BH.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30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Bảo hành động cơ – Chi tiết được &amp; không được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TVBH phải nói đúng từng hạng mục – đừng để KH hiểu nhầm rồi phàn nàn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86400" cy="4434840"/>
          </a:xfrm>
          <a:prstGeom prst="rect">
            <a:avLst/>
          </a:prstGeom>
          <a:solidFill>
            <a:srgbClr val="E8F5EC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783080"/>
            <a:ext cx="5486400" cy="502920"/>
          </a:xfrm>
          <a:prstGeom prst="rect">
            <a:avLst/>
          </a:prstGeom>
          <a:solidFill>
            <a:srgbClr val="1B7F3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CÁC CHI TIẾT ĐƯỢC BẢO HÀNH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24688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Thân động cơ (block cylinder)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83280" y="24688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Nắp quy lát (cylinder head)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8346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Trục khuỷu (crankshaft)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83280" y="28346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Piston &amp; xi-lanh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2004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Bạc đầu to – bạc đầu nhỏ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83280" y="32004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Séc-măng (piston ring)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661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Trục cam (camshaft)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83280" y="35661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Xuppap (valve)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931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Các ổ bi trên động cơ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83280" y="3931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Sên cam (timing chain/belt)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7240" y="4572000"/>
            <a:ext cx="50292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1B7F3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" y="466344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7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kiện: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4892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hư hỏng trong vận hành – không phải do tác nhân bên ngoài.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534924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7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Phương án xử lý: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Sửa chữa hoặc thay thế chi tiết hư hỏng bằng phụ tùng chính hãng.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26480" y="1783080"/>
            <a:ext cx="5486400" cy="4434840"/>
          </a:xfrm>
          <a:prstGeom prst="rect">
            <a:avLst/>
          </a:prstGeom>
          <a:solidFill>
            <a:srgbClr val="FCEEEE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126480" y="1783080"/>
            <a:ext cx="5486400" cy="5029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126480" y="17830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CÁC CHI TIẾT KHÔNG BẢO HÀNH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55080" y="2468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Phớt chặn dầu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235440" y="2468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mòn theo thời gian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355080" y="2834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Ron nắp máy, ron quy lát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235440" y="2834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hao – thay định kỳ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355080" y="32004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Bơm nước, bơm nhớt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235440" y="3200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Lắp ngoài động cơ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55080" y="35661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Máy đề, máy phát điện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235440" y="3566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Điện – không thuộc BH cơ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355080" y="3931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Turbo tăng áp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235440" y="39319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thuộc cách dùng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355080" y="42976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Hệ thống phun nhiên liệu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235440" y="4297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Cảm biến, injector, bơm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55080" y="46634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Hệ thống làm mát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235440" y="4663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Két nước, ống dẫn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55080" y="5029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Hệ thống đánh lửa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235440" y="5029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Bugi, cô-bin, dây cao áp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55080" y="5394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Cảm biến động cơ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235440" y="5394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MAF, O2, nhiệt độ nước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55080" y="57607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Hộp ECU động cơ, cao su, điều hòa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235440" y="5760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Điện tử &amp; hao mòn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30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Bảo hành hộp số sàn &amp; tự động – Chi tiết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Phương án bảo hành: Đại tu hộp số HOẶC thay thế các chi tiết hư hỏng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657600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F36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783080"/>
            <a:ext cx="3657600" cy="45720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HỘP SỐ SÀN (Manual)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377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7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BẢO HÀNH: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Bố ly hợp (clutch disc)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31520" y="2944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Mâm ép (pressure plate)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1520" y="32369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Bi tê / Heo dầu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31520" y="35295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Phớt đầu và đuôi hộp số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31520" y="38221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Bánh đà (flywheel)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31520" y="4206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BẢO HÀNH: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Dầu hộp số (tiêu hao)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3152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Nắp hộp số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31520" y="50657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Cần số – cơ cấu chọn số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343400" y="1783080"/>
            <a:ext cx="3657600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E600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343400" y="1783080"/>
            <a:ext cx="3657600" cy="45720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34340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HỘP SỐ TỰ ĐỘNG THỦY LỰC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26280" y="2377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7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BẢO HÀNH: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26280" y="2651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Biến mô (torque converter)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26280" y="2944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Các lá bố (clutch plates)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32369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Các lá ép (steel plates)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26280" y="35295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Mạch dầu (valve body)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526280" y="38221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Bơm nhớt hộp số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526280" y="4114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Bộ phận giải nhiệt nhớt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26280" y="44988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BẢO HÀNH: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262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Dầu ATF (tiêu hao)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526280" y="50657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Bộ điều khiển điện tử (TCM)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26280" y="53583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Cảm biến tốc độ hộp số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38160" y="1783080"/>
            <a:ext cx="3657600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961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8138160" y="1783080"/>
            <a:ext cx="3657600" cy="457200"/>
          </a:xfrm>
          <a:prstGeom prst="rect">
            <a:avLst/>
          </a:prstGeom>
          <a:solidFill>
            <a:srgbClr val="C9A961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13816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HỘP SỐ POWERSHIFT (Dual Clutch)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321040" y="2377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7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BẢO HÀNH: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21040" y="2651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Mô-tơ điều khiển ly hợp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321040" y="2944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Bố ly hợp (clutch disc)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321040" y="32369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Mâm ép (pressure plate)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321040" y="362102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BẢO HÀNH: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21040" y="38953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Module điều khiển (TCM)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321040" y="41879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Dầu hộp số (tiêu hao)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8321040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Cảm biến vị trí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32104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Actuator chọn số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48640" y="6035040"/>
            <a:ext cx="11064240" cy="292608"/>
          </a:xfrm>
          <a:prstGeom prst="rect">
            <a:avLst/>
          </a:prstGeom>
          <a:solidFill>
            <a:srgbClr val="E8A317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548640" y="603504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Lưu ý: Cần hỏi KH đang dùng loại hộp số nào (Sàn / AT / Powershift) để giải thích đúng chế độ BH áp dụng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30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cam kết của đại lý &amp; câu hỏi thường gặp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TVBH phải thuộc lòng 7 cam kết này – đây là vũ khí tư vấn mạnh nhất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69748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85800" y="1920240"/>
            <a:ext cx="411480" cy="411480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194767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đâm đụng NẶNG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242316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chạm trực diện trước/sau làm biến dạng khung sườn, hư động cơ/hộp số, cong vênh chassis.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60420" y="1783080"/>
            <a:ext cx="269748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497580" y="1920240"/>
            <a:ext cx="411480" cy="411480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758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000500" y="194767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thủy kích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97580" y="242316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không vào vùng ngập nước bị tắt máy &amp; nước xâm nhập động cơ. Không có người cố tình khởi động lại.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72200" y="1783080"/>
            <a:ext cx="269748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309360" y="1920240"/>
            <a:ext cx="411480" cy="411480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30936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12280" y="194767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Động cơ NGUYÊN BẢN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09360" y="242316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Động cơ chưa từng tháo ra sửa chữa lớn/đại tu. Chỉ tháo một số chi tiết phục vụ bảo dưỡng – thay thế.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983980" y="1783080"/>
            <a:ext cx="269748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121140" y="1920240"/>
            <a:ext cx="411480" cy="411480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12114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624060" y="194767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167 điểm kỹ thuật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21140" y="242316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xe qua kiểm định 167 điểm, đánh giá chất lượng, sửa chữa khuyết điểm trước khi nhập kho.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337560"/>
            <a:ext cx="269748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85800" y="3474720"/>
            <a:ext cx="411480" cy="411480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5800" y="3474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88720" y="35021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Pháp lý rõ ràng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" y="39776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kết sang tên đổi chủ được. Nếu không sang tên được: thu hồi xe &amp; hoàn trả toàn bộ tiền cho KH.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360420" y="3337560"/>
            <a:ext cx="269748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3497580" y="3474720"/>
            <a:ext cx="411480" cy="411480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497580" y="3474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00500" y="35021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thế chấp – không phạt nguội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97580" y="39776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 trước khi bán, cam kết bằng văn bản, đại lý chịu trách nhiệm pháp lý.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172200" y="3337560"/>
            <a:ext cx="269748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6309360" y="3474720"/>
            <a:ext cx="411480" cy="411480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309360" y="3474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812280" y="35021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lại / Ký gởi miễn phí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309360" y="39776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Chính sách bảo vệ giá: KH có thể ký gởi lại xe tại đại lý miễn phí nếu muốn bán lại.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983980" y="3337560"/>
            <a:ext cx="2697480" cy="141732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9121140" y="3474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CÂU HỎI KH HAY GẶP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121140" y="37947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Xe mấy đời chủ?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Tỷ lệ sơn zin?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Có tua ODO?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Chế độ BH?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Phí sang tên?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30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27889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 BÁN HÀNG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4160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Thanh toán · Sang tên · Lái thử · Giao xe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4800600"/>
            <a:ext cx="1371600" cy="0"/>
          </a:xfrm>
          <a:prstGeom prst="line">
            <a:avLst/>
          </a:prstGeom>
          <a:noFill/>
          <a:ln w="38100">
            <a:solidFill>
              <a:srgbClr val="E6001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6126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30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Sơ đồ tổng quát quy trình bán hàng – 6 bước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TVBH cần làm đúng trình tự, không bỏ qua bước nào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28700" y="1920240"/>
            <a:ext cx="731520" cy="731520"/>
          </a:xfrm>
          <a:prstGeom prst="ellipse">
            <a:avLst/>
          </a:prstGeom>
          <a:solidFill>
            <a:srgbClr val="E60012"/>
          </a:solidFill>
          <a:ln w="381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28700" y="1920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80060" y="2468880"/>
            <a:ext cx="1828800" cy="32004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80060" y="2468880"/>
            <a:ext cx="1828800" cy="73152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71500" y="2606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1500" y="292608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KIẾM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KHÁCH HÀNG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7220" y="3794760"/>
            <a:ext cx="1554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xe: Chợ Tốt, Bonbanh, Facebook, TikTok, YouTube. Khai thác KH mua xe mới.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rot="5400000">
            <a:off x="2308860" y="3794760"/>
            <a:ext cx="137160" cy="274320"/>
          </a:xfrm>
          <a:prstGeom prst="rtTriangle">
            <a:avLst/>
          </a:prstGeom>
          <a:solidFill>
            <a:srgbClr val="B8BDC4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903220" y="1920240"/>
            <a:ext cx="731520" cy="731520"/>
          </a:xfrm>
          <a:prstGeom prst="ellipse">
            <a:avLst/>
          </a:prstGeom>
          <a:solidFill>
            <a:srgbClr val="E60012"/>
          </a:solidFill>
          <a:ln w="381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03220" y="1920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2354580" y="2468880"/>
            <a:ext cx="1828800" cy="32004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2354580" y="2468880"/>
            <a:ext cx="1828800" cy="73152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2446020" y="2606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446020" y="292608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TIẾP CẬN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 VẤN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91740" y="3794760"/>
            <a:ext cx="1554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Nghe nhu cầu KH. Giới thiệu xe phù hợp. Trình bày 5 yếu tố. Nêu cam kết &amp; BH.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 rot="5400000">
            <a:off x="4183380" y="3794760"/>
            <a:ext cx="137160" cy="274320"/>
          </a:xfrm>
          <a:prstGeom prst="rtTriangle">
            <a:avLst/>
          </a:prstGeom>
          <a:solidFill>
            <a:srgbClr val="B8BDC4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777740" y="1920240"/>
            <a:ext cx="731520" cy="731520"/>
          </a:xfrm>
          <a:prstGeom prst="ellipse">
            <a:avLst/>
          </a:prstGeom>
          <a:solidFill>
            <a:srgbClr val="E60012"/>
          </a:solidFill>
          <a:ln w="381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77740" y="1920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4229100" y="2468880"/>
            <a:ext cx="1828800" cy="32004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229100" y="2468880"/>
            <a:ext cx="1828800" cy="73152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320540" y="2606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320540" y="292608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LÁI THỬ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366260" y="3794760"/>
            <a:ext cx="1554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giấy đề xuất lái thử. KH ký cam kết. Xe cũ KHÔNG có BHVC. Dẫn KH chạy thực tế.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 rot="5400000">
            <a:off x="6057900" y="3794760"/>
            <a:ext cx="137160" cy="274320"/>
          </a:xfrm>
          <a:prstGeom prst="rtTriangle">
            <a:avLst/>
          </a:prstGeom>
          <a:solidFill>
            <a:srgbClr val="B8BDC4"/>
          </a:solidFill>
          <a:ln/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652260" y="1920240"/>
            <a:ext cx="731520" cy="731520"/>
          </a:xfrm>
          <a:prstGeom prst="ellipse">
            <a:avLst/>
          </a:prstGeom>
          <a:solidFill>
            <a:srgbClr val="E60012"/>
          </a:solidFill>
          <a:ln w="381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652260" y="1920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800" dirty="0"/>
          </a:p>
        </p:txBody>
      </p:sp>
      <p:sp>
        <p:nvSpPr>
          <p:cNvPr id="32" name="Shape 30"/>
          <p:cNvSpPr/>
          <p:nvPr/>
        </p:nvSpPr>
        <p:spPr>
          <a:xfrm>
            <a:off x="6103620" y="2468880"/>
            <a:ext cx="1828800" cy="32004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6103620" y="2468880"/>
            <a:ext cx="1828800" cy="73152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195060" y="2606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95060" y="292608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CHỐT DEAL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HỢP ĐỒNG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240780" y="3794760"/>
            <a:ext cx="1554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Thương lượng giá. Lập HĐ mua bán. Tư vấn vay NH. Xác định ngày thanh toán.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 rot="5400000">
            <a:off x="7932420" y="3794760"/>
            <a:ext cx="137160" cy="274320"/>
          </a:xfrm>
          <a:prstGeom prst="rtTriangle">
            <a:avLst/>
          </a:prstGeom>
          <a:solidFill>
            <a:srgbClr val="B8BDC4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526780" y="1920240"/>
            <a:ext cx="731520" cy="731520"/>
          </a:xfrm>
          <a:prstGeom prst="ellipse">
            <a:avLst/>
          </a:prstGeom>
          <a:solidFill>
            <a:srgbClr val="E60012"/>
          </a:solidFill>
          <a:ln w="381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8526780" y="1920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800" dirty="0"/>
          </a:p>
        </p:txBody>
      </p:sp>
      <p:sp>
        <p:nvSpPr>
          <p:cNvPr id="40" name="Shape 38"/>
          <p:cNvSpPr/>
          <p:nvPr/>
        </p:nvSpPr>
        <p:spPr>
          <a:xfrm>
            <a:off x="7978140" y="2468880"/>
            <a:ext cx="1828800" cy="32004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7978140" y="2468880"/>
            <a:ext cx="1828800" cy="73152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8069580" y="2606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069580" y="292608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XE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 TÊN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115300" y="3794760"/>
            <a:ext cx="1554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 xe hoàn tất. Công chứng / xuất hóa đơn. Sang tên đổi chủ. Bàn giao sổ BH.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 rot="5400000">
            <a:off x="9806940" y="3794760"/>
            <a:ext cx="137160" cy="274320"/>
          </a:xfrm>
          <a:prstGeom prst="rtTriangle">
            <a:avLst/>
          </a:prstGeom>
          <a:solidFill>
            <a:srgbClr val="B8BDC4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10401300" y="1920240"/>
            <a:ext cx="731520" cy="731520"/>
          </a:xfrm>
          <a:prstGeom prst="ellipse">
            <a:avLst/>
          </a:prstGeom>
          <a:solidFill>
            <a:srgbClr val="E60012"/>
          </a:solidFill>
          <a:ln w="381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10401300" y="1920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2800" dirty="0"/>
          </a:p>
        </p:txBody>
      </p:sp>
      <p:sp>
        <p:nvSpPr>
          <p:cNvPr id="48" name="Shape 46"/>
          <p:cNvSpPr/>
          <p:nvPr/>
        </p:nvSpPr>
        <p:spPr>
          <a:xfrm>
            <a:off x="9852660" y="2468880"/>
            <a:ext cx="1828800" cy="32004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9852660" y="2468880"/>
            <a:ext cx="1828800" cy="73152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9944100" y="2606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6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944100" y="292608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CHĂM SÓC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BÁN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9989820" y="3794760"/>
            <a:ext cx="1554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up 3-7-30 ngày. Hỗ trợ BH CPO. Nhắc BD định kỳ. Đề nghị giới thiệu KH mới.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30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6" name="RedBar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717" name="Phan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1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05</a:t>
            </a:r>
          </a:p>
        </p:txBody>
      </p:sp>
      <p:sp>
        <p:nvSpPr>
          <p:cNvPr id="718" name="Title"/>
          <p:cNvSpPr/>
          <p:nvPr/>
        </p:nvSpPr>
        <p:spPr>
          <a:xfrm>
            <a:off x="548640" y="580000"/>
            <a:ext cx="10972800" cy="6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8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 lái thử xe</a:t>
            </a:r>
          </a:p>
        </p:txBody>
      </p:sp>
      <p:sp>
        <p:nvSpPr>
          <p:cNvPr id="719" name="Sub"/>
          <p:cNvSpPr/>
          <p:nvPr/>
        </p:nvSpPr>
        <p:spPr>
          <a:xfrm>
            <a:off x="548640" y="1200000"/>
            <a:ext cx="109728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Để KH trải nghiệm trực tiếp – lái thử đúng cách tăng tỷ lệ chốt deal</a:t>
            </a:r>
          </a:p>
        </p:txBody>
      </p:sp>
      <p:sp>
        <p:nvSpPr>
          <p:cNvPr id="720" name="Line"/>
          <p:cNvSpPr/>
          <p:nvPr/>
        </p:nvSpPr>
        <p:spPr>
          <a:xfrm>
            <a:off x="548640" y="1530000"/>
            <a:ext cx="10972800" cy="16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721" name="RowBg1"/>
          <p:cNvSpPr/>
          <p:nvPr/>
        </p:nvSpPr>
        <p:spPr>
          <a:xfrm>
            <a:off x="280000" y="1590000"/>
            <a:ext cx="11632000" cy="76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722" name="NumBg1"/>
          <p:cNvSpPr/>
          <p:nvPr/>
        </p:nvSpPr>
        <p:spPr>
          <a:xfrm>
            <a:off x="280000" y="1590000"/>
            <a:ext cx="320000" cy="76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723" name="NumT1"/>
          <p:cNvSpPr/>
          <p:nvPr/>
        </p:nvSpPr>
        <p:spPr>
          <a:xfrm>
            <a:off x="280000" y="1590000"/>
            <a:ext cx="32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724" name="Bar1"/>
          <p:cNvSpPr/>
          <p:nvPr/>
        </p:nvSpPr>
        <p:spPr>
          <a:xfrm>
            <a:off x="600000" y="1590000"/>
            <a:ext cx="12000" cy="76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725" name="StepT1"/>
          <p:cNvSpPr/>
          <p:nvPr/>
        </p:nvSpPr>
        <p:spPr>
          <a:xfrm>
            <a:off x="692000" y="1590000"/>
            <a:ext cx="32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THỜI ĐIỂM</a:t>
            </a:r>
          </a:p>
        </p:txBody>
      </p:sp>
      <p:sp>
        <p:nvSpPr>
          <p:cNvPr id="726" name="StepD1"/>
          <p:cNvSpPr/>
          <p:nvPr/>
        </p:nvSpPr>
        <p:spPr>
          <a:xfrm>
            <a:off x="3952000" y="1590000"/>
            <a:ext cx="796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8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 đã xem xe và thích – muốn lái thử để quyết định cuối. Không cho lái thử quá sớm khi KH chưa quan tâm rõ ràng.</a:t>
            </a:r>
          </a:p>
        </p:txBody>
      </p:sp>
      <p:sp>
        <p:nvSpPr>
          <p:cNvPr id="727" name="Sep1"/>
          <p:cNvSpPr/>
          <p:nvPr/>
        </p:nvSpPr>
        <p:spPr>
          <a:xfrm>
            <a:off x="280000" y="2340000"/>
            <a:ext cx="11632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728" name="RowBg2"/>
          <p:cNvSpPr/>
          <p:nvPr/>
        </p:nvSpPr>
        <p:spPr>
          <a:xfrm>
            <a:off x="280000" y="2350000"/>
            <a:ext cx="11632000" cy="76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729" name="NumBg2"/>
          <p:cNvSpPr/>
          <p:nvPr/>
        </p:nvSpPr>
        <p:spPr>
          <a:xfrm>
            <a:off x="280000" y="2350000"/>
            <a:ext cx="320000" cy="7600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730" name="NumT2"/>
          <p:cNvSpPr/>
          <p:nvPr/>
        </p:nvSpPr>
        <p:spPr>
          <a:xfrm>
            <a:off x="280000" y="2350000"/>
            <a:ext cx="32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731" name="Bar2"/>
          <p:cNvSpPr/>
          <p:nvPr/>
        </p:nvSpPr>
        <p:spPr>
          <a:xfrm>
            <a:off x="600000" y="2350000"/>
            <a:ext cx="12000" cy="7600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732" name="StepT2"/>
          <p:cNvSpPr/>
          <p:nvPr/>
        </p:nvSpPr>
        <p:spPr>
          <a:xfrm>
            <a:off x="692000" y="2350000"/>
            <a:ext cx="32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GIẤY ĐỀ XUẤT</a:t>
            </a:r>
          </a:p>
        </p:txBody>
      </p:sp>
      <p:sp>
        <p:nvSpPr>
          <p:cNvPr id="733" name="StepD2"/>
          <p:cNvSpPr/>
          <p:nvPr/>
        </p:nvSpPr>
        <p:spPr>
          <a:xfrm>
            <a:off x="3952000" y="2350000"/>
            <a:ext cx="796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8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Điền đầy đủ thông tin xe và thông tin KH vào form nội bộ. Liên hệ admin xe cũ để chuẩn bị thủ tục trước.</a:t>
            </a:r>
          </a:p>
        </p:txBody>
      </p:sp>
      <p:sp>
        <p:nvSpPr>
          <p:cNvPr id="734" name="Sep2"/>
          <p:cNvSpPr/>
          <p:nvPr/>
        </p:nvSpPr>
        <p:spPr>
          <a:xfrm>
            <a:off x="280000" y="3100000"/>
            <a:ext cx="11632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735" name="RowBg3"/>
          <p:cNvSpPr/>
          <p:nvPr/>
        </p:nvSpPr>
        <p:spPr>
          <a:xfrm>
            <a:off x="280000" y="3110000"/>
            <a:ext cx="11632000" cy="76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736" name="NumBg3"/>
          <p:cNvSpPr/>
          <p:nvPr/>
        </p:nvSpPr>
        <p:spPr>
          <a:xfrm>
            <a:off x="280000" y="3110000"/>
            <a:ext cx="320000" cy="76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737" name="NumT3"/>
          <p:cNvSpPr/>
          <p:nvPr/>
        </p:nvSpPr>
        <p:spPr>
          <a:xfrm>
            <a:off x="280000" y="3110000"/>
            <a:ext cx="32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738" name="Bar3"/>
          <p:cNvSpPr/>
          <p:nvPr/>
        </p:nvSpPr>
        <p:spPr>
          <a:xfrm>
            <a:off x="600000" y="3110000"/>
            <a:ext cx="12000" cy="76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739" name="StepT3"/>
          <p:cNvSpPr/>
          <p:nvPr/>
        </p:nvSpPr>
        <p:spPr>
          <a:xfrm>
            <a:off x="692000" y="3110000"/>
            <a:ext cx="32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 KÝ CAM KẾT</a:t>
            </a:r>
          </a:p>
        </p:txBody>
      </p:sp>
      <p:sp>
        <p:nvSpPr>
          <p:cNvPr id="740" name="StepD3"/>
          <p:cNvSpPr/>
          <p:nvPr/>
        </p:nvSpPr>
        <p:spPr>
          <a:xfrm>
            <a:off x="3952000" y="3110000"/>
            <a:ext cx="796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8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 ký giấy yêu cầu chạy thử. ⚠ LƯU Ý: xe cũ KHÔNG có bảo hiểm vật chất – tổn thất trong lái thử KH chịu.</a:t>
            </a:r>
          </a:p>
        </p:txBody>
      </p:sp>
      <p:sp>
        <p:nvSpPr>
          <p:cNvPr id="741" name="Sep3"/>
          <p:cNvSpPr/>
          <p:nvPr/>
        </p:nvSpPr>
        <p:spPr>
          <a:xfrm>
            <a:off x="280000" y="3860000"/>
            <a:ext cx="11632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742" name="RowBg4"/>
          <p:cNvSpPr/>
          <p:nvPr/>
        </p:nvSpPr>
        <p:spPr>
          <a:xfrm>
            <a:off x="280000" y="3870000"/>
            <a:ext cx="11632000" cy="76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743" name="NumBg4"/>
          <p:cNvSpPr/>
          <p:nvPr/>
        </p:nvSpPr>
        <p:spPr>
          <a:xfrm>
            <a:off x="280000" y="3870000"/>
            <a:ext cx="320000" cy="7600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744" name="NumT4"/>
          <p:cNvSpPr/>
          <p:nvPr/>
        </p:nvSpPr>
        <p:spPr>
          <a:xfrm>
            <a:off x="280000" y="3870000"/>
            <a:ext cx="32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745" name="Bar4"/>
          <p:cNvSpPr/>
          <p:nvPr/>
        </p:nvSpPr>
        <p:spPr>
          <a:xfrm>
            <a:off x="600000" y="3870000"/>
            <a:ext cx="12000" cy="7600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746" name="StepT4"/>
          <p:cNvSpPr/>
          <p:nvPr/>
        </p:nvSpPr>
        <p:spPr>
          <a:xfrm>
            <a:off x="692000" y="3870000"/>
            <a:ext cx="32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DẪN KH TRẢI NGHIỆM</a:t>
            </a:r>
          </a:p>
        </p:txBody>
      </p:sp>
      <p:sp>
        <p:nvSpPr>
          <p:cNvPr id="747" name="StepD4"/>
          <p:cNvSpPr/>
          <p:nvPr/>
        </p:nvSpPr>
        <p:spPr>
          <a:xfrm>
            <a:off x="3952000" y="3870000"/>
            <a:ext cx="796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8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đường thực tế. Giới thiệu: hệ thống âm thanh, điều hòa, cảm giác lái, phanh, khả năng tăng tốc.</a:t>
            </a:r>
          </a:p>
        </p:txBody>
      </p:sp>
      <p:sp>
        <p:nvSpPr>
          <p:cNvPr id="748" name="Sep4"/>
          <p:cNvSpPr/>
          <p:nvPr/>
        </p:nvSpPr>
        <p:spPr>
          <a:xfrm>
            <a:off x="280000" y="4620000"/>
            <a:ext cx="11632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749" name="RowBg5"/>
          <p:cNvSpPr/>
          <p:nvPr/>
        </p:nvSpPr>
        <p:spPr>
          <a:xfrm>
            <a:off x="280000" y="4630000"/>
            <a:ext cx="11632000" cy="76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750" name="NumBg5"/>
          <p:cNvSpPr/>
          <p:nvPr/>
        </p:nvSpPr>
        <p:spPr>
          <a:xfrm>
            <a:off x="280000" y="4630000"/>
            <a:ext cx="320000" cy="76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751" name="NumT5"/>
          <p:cNvSpPr/>
          <p:nvPr/>
        </p:nvSpPr>
        <p:spPr>
          <a:xfrm>
            <a:off x="280000" y="4630000"/>
            <a:ext cx="32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752" name="Bar5"/>
          <p:cNvSpPr/>
          <p:nvPr/>
        </p:nvSpPr>
        <p:spPr>
          <a:xfrm>
            <a:off x="600000" y="4630000"/>
            <a:ext cx="12000" cy="76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753" name="StepT5"/>
          <p:cNvSpPr/>
          <p:nvPr/>
        </p:nvSpPr>
        <p:spPr>
          <a:xfrm>
            <a:off x="692000" y="4630000"/>
            <a:ext cx="32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THÚC &amp; CHỐT DEAL</a:t>
            </a:r>
          </a:p>
        </p:txBody>
      </p:sp>
      <p:sp>
        <p:nvSpPr>
          <p:cNvPr id="754" name="StepD5"/>
          <p:cNvSpPr/>
          <p:nvPr/>
        </p:nvSpPr>
        <p:spPr>
          <a:xfrm>
            <a:off x="3952000" y="4630000"/>
            <a:ext cx="796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8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 cảm nhận ngay sau khi lái. Giải đáp thắc mắc. Đề nghị ký hợp đồng – xác định ngày &amp; giờ thanh toán.</a:t>
            </a:r>
          </a:p>
        </p:txBody>
      </p:sp>
      <p:sp>
        <p:nvSpPr>
          <p:cNvPr id="755" name="Sep5"/>
          <p:cNvSpPr/>
          <p:nvPr/>
        </p:nvSpPr>
        <p:spPr>
          <a:xfrm>
            <a:off x="280000" y="5380000"/>
            <a:ext cx="11632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756" name="FBar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757" name="FTx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0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</a:p>
        </p:txBody>
      </p:sp>
      <p:sp>
        <p:nvSpPr>
          <p:cNvPr id="758" name="FPg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vi-VN" sz="1000" b="0" kern="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Thủ tục thanh toán – Xe công chứng mua bán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Áp dụng cho xe tư nhân không xuất được hóa đơn VAT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64240" cy="50292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7830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TƯỢNG: 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94560" y="178308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đăng ký tư nhân – pháp lý đầu vào là Hợp đồng ủy quyền (chủ xe ủy quyền cho NV thu mua đại lý)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5486400" cy="3931920"/>
          </a:xfrm>
          <a:prstGeom prst="rect">
            <a:avLst/>
          </a:prstGeom>
          <a:solidFill>
            <a:srgbClr val="F5F7FA"/>
          </a:solidFill>
          <a:ln w="19050">
            <a:solidFill>
              <a:srgbClr val="1A1F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423160"/>
            <a:ext cx="5486400" cy="45720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2423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BÊN MUA LÀ CÁ NHÂN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971800"/>
            <a:ext cx="54864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29535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Giấy tờ cần mang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3200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CCCD + Xác nhận cư trú (thường trú hoặc tạm trú)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85800" y="3630168"/>
            <a:ext cx="54864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3611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 ký HĐ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38587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Liên hệ Admin xe cũ – gửi CCCD KH cho phòng công chứng soạn trước HĐMB. KH ra tới ký ngay.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4288536"/>
            <a:ext cx="54864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2960" y="42702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Phương thức TT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451713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Thanh toán TRƯỚC khi ký Hợp đồng mua bán tại phòng công chứng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85800" y="4946904"/>
            <a:ext cx="54864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22960" y="49286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khi ký HĐ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2960" y="517550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Đại lý (người được ủy quyền) thu tiền hoặc nhận giải ngân từ ngân hàng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85800" y="5605272"/>
            <a:ext cx="54864" cy="54864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22960" y="55869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ý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2960" y="583387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 nhân mua xe tư nhân: KHÔNG được xuất hóa đơn VAT. KH chỉ nhận Hợp đồng công chứng.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26480" y="2423160"/>
            <a:ext cx="5486400" cy="3931920"/>
          </a:xfrm>
          <a:prstGeom prst="rect">
            <a:avLst/>
          </a:prstGeom>
          <a:solidFill>
            <a:srgbClr val="F5F7FA"/>
          </a:solidFill>
          <a:ln w="19050">
            <a:solidFill>
              <a:srgbClr val="E600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126480" y="2423160"/>
            <a:ext cx="5486400" cy="45720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126480" y="2423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BÊN MUA LÀ CÔNG TY ĐỨNG TÊN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63640" y="2971800"/>
            <a:ext cx="54864" cy="713232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400800" y="29535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công ty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0" y="32004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Đưa giá trị xe vào khấu hao thuế TNDN – cần thanh toán chuyển khoản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63640" y="3794760"/>
            <a:ext cx="54864" cy="713232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400800" y="3776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Bất lợi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00800" y="402336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cá nhân KHÔNG xuất được hóa đơn VAT → không được khấu trừ VAT đầu vào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63640" y="4617720"/>
            <a:ext cx="54864" cy="713232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400800" y="45994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Thuận lợi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400800" y="48463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Vẫn khấu hao chi phí công ty NẾU: (1) HĐ công chứng giữa cá nhân bán &amp; công ty mua; (2) TT chuyển khoản từ TK doanh nghiệp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63640" y="5440680"/>
            <a:ext cx="54864" cy="713232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400800" y="54223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Giấy tờ công ty cần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400800" y="566928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TNHH 1TV: GPKD + Mộc dấu + CMND chủ DN. TNHH 2TV/CP: + Biên bản họp thành viên (ghi rõ xe, giá, ủy quyền ký)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30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xuất hóa đơn VAT – Phương thức thanh toán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Áp dụng cho xe Doanh nghiệp – Đại lý xuất hóa đơn VAT cho Bên Mua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64240" cy="45720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783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THỨC: Giá HĐ đầu vào  +  Lợi nhuận  =  Giá HĐ xuất ra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 DỤ THỰC TẾ – PHƯƠNG THỨC THU TIỀN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5486400" cy="187452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8640" y="2743200"/>
            <a:ext cx="5486400" cy="36576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MUA VÀO TỪ DN 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200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giá mua vào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06240" y="32004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800,000,000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352958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Hóa đơn đầu vào (1)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06240" y="352958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200,000,000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8587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Thanh toán chuyển khoản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06240" y="385876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200,000,000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418795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Thanh toán tiền mặt (ứng vốn)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206240" y="4187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600,000,000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26480" y="2743200"/>
            <a:ext cx="5486400" cy="187452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126480" y="2743200"/>
            <a:ext cx="5486400" cy="365760"/>
          </a:xfrm>
          <a:prstGeom prst="rect">
            <a:avLst/>
          </a:prstGeom>
          <a:solidFill>
            <a:srgbClr val="1B7F3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1264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BÁN RA CHO KHÁCH B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09360" y="3200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 xe bán ra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784080" y="32004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850,000,000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09360" y="352958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Lợi nhuận (2)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784080" y="352958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50,000,000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09360" y="38587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Hóa đơn xuất ra (1)+(2)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784080" y="385876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250,000,000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09360" y="418795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Phiếu hoàn ứng vốn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784080" y="4187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F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600,000,000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48640" y="4800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KHẤU HAO GIÁ TRỊ XE  ·  Lệ phí trước bạ = 2% × Giá trị khấu hao còn lại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5120640"/>
            <a:ext cx="2148840" cy="91440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548640" y="5120640"/>
            <a:ext cx="2148840" cy="27432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48640" y="51206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1 năm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5440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85%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2788920" y="5120640"/>
            <a:ext cx="2148840" cy="91440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2788920" y="5120640"/>
            <a:ext cx="2148840" cy="27432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2788920" y="51206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3 năm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788920" y="5440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70%</a:t>
            </a:r>
            <a:endParaRPr lang="en-US" sz="2200" dirty="0"/>
          </a:p>
        </p:txBody>
      </p:sp>
      <p:sp>
        <p:nvSpPr>
          <p:cNvPr id="40" name="Shape 38"/>
          <p:cNvSpPr/>
          <p:nvPr/>
        </p:nvSpPr>
        <p:spPr>
          <a:xfrm>
            <a:off x="5029200" y="5120640"/>
            <a:ext cx="2148840" cy="91440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029200" y="5120640"/>
            <a:ext cx="2148840" cy="27432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5029200" y="51206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– 6 năm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029200" y="5440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50%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7269480" y="5120640"/>
            <a:ext cx="2148840" cy="91440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7269480" y="5120640"/>
            <a:ext cx="2148840" cy="27432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269480" y="51206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– 10 năm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269480" y="5440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30%</a:t>
            </a:r>
            <a:endParaRPr lang="en-US" sz="2200" dirty="0"/>
          </a:p>
        </p:txBody>
      </p:sp>
      <p:sp>
        <p:nvSpPr>
          <p:cNvPr id="48" name="Shape 46"/>
          <p:cNvSpPr/>
          <p:nvPr/>
        </p:nvSpPr>
        <p:spPr>
          <a:xfrm>
            <a:off x="9509760" y="5120640"/>
            <a:ext cx="2148840" cy="914400"/>
          </a:xfrm>
          <a:prstGeom prst="rect">
            <a:avLst/>
          </a:prstGeom>
          <a:solidFill>
            <a:srgbClr val="F5F7FA"/>
          </a:solidFill>
          <a:ln w="6350">
            <a:solidFill>
              <a:srgbClr val="B8BDC4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9509760" y="5120640"/>
            <a:ext cx="2148840" cy="27432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9509760" y="51206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10 năm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509760" y="5440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00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548640" y="6126480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 dụ: Ranger XLS AT 2017, giá áp thuế 650tr, dùng 6 năm (50%) → 650tr × 50% × 2% = 6.500.000 VNĐ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30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Hồ sơ sang tên đổi chủ – Đầy đủ theo từng trường hợp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Thiếu bất kỳ giấy tờ nào có thể làm chậm sang tên – kiểm tra trước khi tư vấn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86400" cy="4434840"/>
          </a:xfrm>
          <a:prstGeom prst="rect">
            <a:avLst/>
          </a:prstGeom>
          <a:solidFill>
            <a:srgbClr val="F5F7FA"/>
          </a:solidFill>
          <a:ln w="19050">
            <a:solidFill>
              <a:srgbClr val="1A1F36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783080"/>
            <a:ext cx="5486400" cy="457200"/>
          </a:xfrm>
          <a:prstGeom prst="rect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XE CÔNG CHỨNG MUA BÁN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377440"/>
            <a:ext cx="292608" cy="292608"/>
          </a:xfrm>
          <a:prstGeom prst="ellipse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7280" y="23591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Giấy đăng ký xe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97280" y="2606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chính – mã số khung, số máy phải khớp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31520" y="2926080"/>
            <a:ext cx="292608" cy="292608"/>
          </a:xfrm>
          <a:prstGeom prst="ellipse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2926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97280" y="29077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Giấy đăng kiểm xe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97280" y="3154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Còn hiệu lực – kiểm tra hạn trước khi bán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1520" y="3474720"/>
            <a:ext cx="292608" cy="292608"/>
          </a:xfrm>
          <a:prstGeom prst="ellipse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31520" y="3474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97280" y="34564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Hợp đồng ủy quyền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97280" y="3703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Ký tại phòng công chứng giữa chủ xe và đại lý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31520" y="4023360"/>
            <a:ext cx="292608" cy="292608"/>
          </a:xfrm>
          <a:prstGeom prst="ellipse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3152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97280" y="40050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Hợp đồng mua bán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97280" y="42519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Ký tại phòng công chứng giữa người được UQ và KH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31520" y="4572000"/>
            <a:ext cx="292608" cy="292608"/>
          </a:xfrm>
          <a:prstGeom prst="ellipse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31520" y="4572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97280" y="45537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Căn cước công dân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97280" y="4800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chính của Bên Mua – cá nhân hoặc đại diện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31520" y="5120640"/>
            <a:ext cx="292608" cy="292608"/>
          </a:xfrm>
          <a:prstGeom prst="ellipse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73152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97280" y="51023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nhận thu hồi biển số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97280" y="5349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Đại lý thu biển, nộp lên cơ quan để cấp biển mới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31520" y="5669280"/>
            <a:ext cx="292608" cy="292608"/>
          </a:xfrm>
          <a:prstGeom prst="ellipse">
            <a:avLst/>
          </a:prstGeom>
          <a:solidFill>
            <a:srgbClr val="1A1F36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31520" y="5669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97280" y="56509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cư trú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097280" y="58978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Áp dụng khi mua cá nhân – thường trú hoặc tạm trú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126480" y="1783080"/>
            <a:ext cx="5486400" cy="4434840"/>
          </a:xfrm>
          <a:prstGeom prst="rect">
            <a:avLst/>
          </a:prstGeom>
          <a:solidFill>
            <a:srgbClr val="F5F7FA"/>
          </a:solidFill>
          <a:ln w="19050">
            <a:solidFill>
              <a:srgbClr val="E60012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6126480" y="1783080"/>
            <a:ext cx="5486400" cy="45720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126480" y="1783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XE XUẤT HÓA ĐƠN VAT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309360" y="2377440"/>
            <a:ext cx="292608" cy="292608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30936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23591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Giấy đăng ký xe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675120" y="2606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chính – mã số khung, số máy phải khớp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309360" y="2926080"/>
            <a:ext cx="292608" cy="292608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309360" y="2926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675120" y="29077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Giấy đăng kiểm xe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675120" y="3154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Còn hiệu lực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9360" y="3474720"/>
            <a:ext cx="292608" cy="292608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6309360" y="3474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675120" y="34564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Hóa đơn nối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675120" y="3703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HĐ Cty bán → đại lý: hóa đơn đầu vào, sao y công chứng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9360" y="4023360"/>
            <a:ext cx="292608" cy="292608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63093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675120" y="40050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Hóa đơn đại lý xuất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675120" y="42519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ĐL → KH: bản chính + sao y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309360" y="4572000"/>
            <a:ext cx="292608" cy="292608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6309360" y="4572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6675120" y="45537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Giấy phép đăng ký KD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6675120" y="4800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công chứng của Bên Mua (công ty)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9360" y="5120640"/>
            <a:ext cx="292608" cy="292608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63093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675120" y="51023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Danh sách cổ đông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6675120" y="5349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– áp dụng cho công ty cổ phần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309360" y="5669280"/>
            <a:ext cx="292608" cy="292608"/>
          </a:xfrm>
          <a:prstGeom prst="ellipse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6309360" y="5669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6675120" y="56509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nhận thu hồi biển số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675120" y="58978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Đại lý thu biển, nộp lên cơ quan để cấp biển mới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/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30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1" name="RedBar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02" name="Phan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1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05</a:t>
            </a:r>
          </a:p>
        </p:txBody>
      </p:sp>
      <p:sp>
        <p:nvSpPr>
          <p:cNvPr id="503" name="Title"/>
          <p:cNvSpPr/>
          <p:nvPr/>
        </p:nvSpPr>
        <p:spPr>
          <a:xfrm>
            <a:off x="548640" y="580000"/>
            <a:ext cx="10972800" cy="6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8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 bàn giao xe cho khách hàng</a:t>
            </a:r>
          </a:p>
        </p:txBody>
      </p:sp>
      <p:sp>
        <p:nvSpPr>
          <p:cNvPr id="504" name="Sub"/>
          <p:cNvSpPr/>
          <p:nvPr/>
        </p:nvSpPr>
        <p:spPr>
          <a:xfrm>
            <a:off x="548640" y="1200000"/>
            <a:ext cx="109728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xe chuyên nghiệp – ấn tượng cuối cùng tạo KH giới thiệu thêm</a:t>
            </a:r>
          </a:p>
        </p:txBody>
      </p:sp>
      <p:sp>
        <p:nvSpPr>
          <p:cNvPr id="505" name="Line"/>
          <p:cNvSpPr/>
          <p:nvPr/>
        </p:nvSpPr>
        <p:spPr>
          <a:xfrm>
            <a:off x="548640" y="1530000"/>
            <a:ext cx="10972800" cy="16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506" name="RowBg1"/>
          <p:cNvSpPr/>
          <p:nvPr/>
        </p:nvSpPr>
        <p:spPr>
          <a:xfrm>
            <a:off x="280000" y="1590000"/>
            <a:ext cx="11632000" cy="76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507" name="NumBg1"/>
          <p:cNvSpPr/>
          <p:nvPr/>
        </p:nvSpPr>
        <p:spPr>
          <a:xfrm>
            <a:off x="280000" y="1590000"/>
            <a:ext cx="320000" cy="76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08" name="NumT1"/>
          <p:cNvSpPr/>
          <p:nvPr/>
        </p:nvSpPr>
        <p:spPr>
          <a:xfrm>
            <a:off x="280000" y="1590000"/>
            <a:ext cx="32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509" name="Bar1"/>
          <p:cNvSpPr/>
          <p:nvPr/>
        </p:nvSpPr>
        <p:spPr>
          <a:xfrm>
            <a:off x="600000" y="1590000"/>
            <a:ext cx="12000" cy="76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10" name="StepT1"/>
          <p:cNvSpPr/>
          <p:nvPr/>
        </p:nvSpPr>
        <p:spPr>
          <a:xfrm>
            <a:off x="692000" y="1590000"/>
            <a:ext cx="32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THANH TOÁN</a:t>
            </a:r>
          </a:p>
        </p:txBody>
      </p:sp>
      <p:sp>
        <p:nvSpPr>
          <p:cNvPr id="511" name="StepD1"/>
          <p:cNvSpPr/>
          <p:nvPr/>
        </p:nvSpPr>
        <p:spPr>
          <a:xfrm>
            <a:off x="3952000" y="1590000"/>
            <a:ext cx="796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8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KH đã thanh toán đầy đủ. Nếu vay NH, chờ xác nhận giải ngân trước khi chuẩn bị xe.</a:t>
            </a:r>
          </a:p>
        </p:txBody>
      </p:sp>
      <p:sp>
        <p:nvSpPr>
          <p:cNvPr id="512" name="Sep1"/>
          <p:cNvSpPr/>
          <p:nvPr/>
        </p:nvSpPr>
        <p:spPr>
          <a:xfrm>
            <a:off x="280000" y="2340000"/>
            <a:ext cx="11632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513" name="RowBg2"/>
          <p:cNvSpPr/>
          <p:nvPr/>
        </p:nvSpPr>
        <p:spPr>
          <a:xfrm>
            <a:off x="280000" y="2350000"/>
            <a:ext cx="11632000" cy="76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514" name="NumBg2"/>
          <p:cNvSpPr/>
          <p:nvPr/>
        </p:nvSpPr>
        <p:spPr>
          <a:xfrm>
            <a:off x="280000" y="2350000"/>
            <a:ext cx="320000" cy="7600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515" name="NumT2"/>
          <p:cNvSpPr/>
          <p:nvPr/>
        </p:nvSpPr>
        <p:spPr>
          <a:xfrm>
            <a:off x="280000" y="2350000"/>
            <a:ext cx="32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516" name="Bar2"/>
          <p:cNvSpPr/>
          <p:nvPr/>
        </p:nvSpPr>
        <p:spPr>
          <a:xfrm>
            <a:off x="600000" y="2350000"/>
            <a:ext cx="12000" cy="7600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517" name="StepT2"/>
          <p:cNvSpPr/>
          <p:nvPr/>
        </p:nvSpPr>
        <p:spPr>
          <a:xfrm>
            <a:off x="692000" y="2350000"/>
            <a:ext cx="32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LỊCH GIAO XE</a:t>
            </a:r>
          </a:p>
        </p:txBody>
      </p:sp>
      <p:sp>
        <p:nvSpPr>
          <p:cNvPr id="518" name="StepD2"/>
          <p:cNvSpPr/>
          <p:nvPr/>
        </p:nvSpPr>
        <p:spPr>
          <a:xfrm>
            <a:off x="3952000" y="2350000"/>
            <a:ext cx="796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8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 nhất ngày &amp; giờ giao xe. Đảm bảo xe đã hoàn tất mọi yêu cầu và phụ kiện theo thỏa thuận.</a:t>
            </a:r>
          </a:p>
        </p:txBody>
      </p:sp>
      <p:sp>
        <p:nvSpPr>
          <p:cNvPr id="519" name="Sep2"/>
          <p:cNvSpPr/>
          <p:nvPr/>
        </p:nvSpPr>
        <p:spPr>
          <a:xfrm>
            <a:off x="280000" y="3100000"/>
            <a:ext cx="11632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520" name="RowBg3"/>
          <p:cNvSpPr/>
          <p:nvPr/>
        </p:nvSpPr>
        <p:spPr>
          <a:xfrm>
            <a:off x="280000" y="3110000"/>
            <a:ext cx="11632000" cy="76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521" name="NumBg3"/>
          <p:cNvSpPr/>
          <p:nvPr/>
        </p:nvSpPr>
        <p:spPr>
          <a:xfrm>
            <a:off x="280000" y="3110000"/>
            <a:ext cx="320000" cy="76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22" name="NumT3"/>
          <p:cNvSpPr/>
          <p:nvPr/>
        </p:nvSpPr>
        <p:spPr>
          <a:xfrm>
            <a:off x="280000" y="3110000"/>
            <a:ext cx="32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523" name="Bar3"/>
          <p:cNvSpPr/>
          <p:nvPr/>
        </p:nvSpPr>
        <p:spPr>
          <a:xfrm>
            <a:off x="600000" y="3110000"/>
            <a:ext cx="12000" cy="76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24" name="StepT3"/>
          <p:cNvSpPr/>
          <p:nvPr/>
        </p:nvSpPr>
        <p:spPr>
          <a:xfrm>
            <a:off x="692000" y="3110000"/>
            <a:ext cx="32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XE</a:t>
            </a:r>
          </a:p>
        </p:txBody>
      </p:sp>
      <p:sp>
        <p:nvSpPr>
          <p:cNvPr id="525" name="StepD3"/>
          <p:cNvSpPr/>
          <p:nvPr/>
        </p:nvSpPr>
        <p:spPr>
          <a:xfrm>
            <a:off x="3952000" y="3110000"/>
            <a:ext cx="796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8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 xe đạt chuẩn, thay nhớt &amp; lọc nhớt mới. Ghi mốc nhắc bảo dưỡng 5.000–10.000km tiếp.</a:t>
            </a:r>
          </a:p>
        </p:txBody>
      </p:sp>
      <p:sp>
        <p:nvSpPr>
          <p:cNvPr id="526" name="Sep3"/>
          <p:cNvSpPr/>
          <p:nvPr/>
        </p:nvSpPr>
        <p:spPr>
          <a:xfrm>
            <a:off x="280000" y="3860000"/>
            <a:ext cx="11632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527" name="RowBg4"/>
          <p:cNvSpPr/>
          <p:nvPr/>
        </p:nvSpPr>
        <p:spPr>
          <a:xfrm>
            <a:off x="280000" y="3870000"/>
            <a:ext cx="11632000" cy="76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528" name="NumBg4"/>
          <p:cNvSpPr/>
          <p:nvPr/>
        </p:nvSpPr>
        <p:spPr>
          <a:xfrm>
            <a:off x="280000" y="3870000"/>
            <a:ext cx="320000" cy="7600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529" name="NumT4"/>
          <p:cNvSpPr/>
          <p:nvPr/>
        </p:nvSpPr>
        <p:spPr>
          <a:xfrm>
            <a:off x="280000" y="3870000"/>
            <a:ext cx="32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530" name="Bar4"/>
          <p:cNvSpPr/>
          <p:nvPr/>
        </p:nvSpPr>
        <p:spPr>
          <a:xfrm>
            <a:off x="600000" y="3870000"/>
            <a:ext cx="12000" cy="7600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531" name="StepT4"/>
          <p:cNvSpPr/>
          <p:nvPr/>
        </p:nvSpPr>
        <p:spPr>
          <a:xfrm>
            <a:off x="692000" y="3870000"/>
            <a:ext cx="32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THỦ TỤC RA CỔNG</a:t>
            </a:r>
          </a:p>
        </p:txBody>
      </p:sp>
      <p:sp>
        <p:nvSpPr>
          <p:cNvPr id="532" name="StepD4"/>
          <p:cNvSpPr/>
          <p:nvPr/>
        </p:nvSpPr>
        <p:spPr>
          <a:xfrm>
            <a:off x="3952000" y="3870000"/>
            <a:ext cx="796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8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 toán quyết toán sổ sách, ký phiếu ra cổng. Cà số khung – số máy. Tháo biển số cũ.</a:t>
            </a:r>
          </a:p>
        </p:txBody>
      </p:sp>
      <p:sp>
        <p:nvSpPr>
          <p:cNvPr id="533" name="Sep4"/>
          <p:cNvSpPr/>
          <p:nvPr/>
        </p:nvSpPr>
        <p:spPr>
          <a:xfrm>
            <a:off x="280000" y="4620000"/>
            <a:ext cx="11632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534" name="RowBg5"/>
          <p:cNvSpPr/>
          <p:nvPr/>
        </p:nvSpPr>
        <p:spPr>
          <a:xfrm>
            <a:off x="280000" y="4630000"/>
            <a:ext cx="11632000" cy="76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535" name="NumBg5"/>
          <p:cNvSpPr/>
          <p:nvPr/>
        </p:nvSpPr>
        <p:spPr>
          <a:xfrm>
            <a:off x="280000" y="4630000"/>
            <a:ext cx="320000" cy="76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36" name="NumT5"/>
          <p:cNvSpPr/>
          <p:nvPr/>
        </p:nvSpPr>
        <p:spPr>
          <a:xfrm>
            <a:off x="280000" y="4630000"/>
            <a:ext cx="32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537" name="Bar5"/>
          <p:cNvSpPr/>
          <p:nvPr/>
        </p:nvSpPr>
        <p:spPr>
          <a:xfrm>
            <a:off x="600000" y="4630000"/>
            <a:ext cx="12000" cy="76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38" name="StepT5"/>
          <p:cNvSpPr/>
          <p:nvPr/>
        </p:nvSpPr>
        <p:spPr>
          <a:xfrm>
            <a:off x="692000" y="4630000"/>
            <a:ext cx="32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BÀN GIAO &amp; HƯỚNG DẪN</a:t>
            </a:r>
          </a:p>
        </p:txBody>
      </p:sp>
      <p:sp>
        <p:nvSpPr>
          <p:cNvPr id="539" name="StepD5"/>
          <p:cNvSpPr/>
          <p:nvPr/>
        </p:nvSpPr>
        <p:spPr>
          <a:xfrm>
            <a:off x="3952000" y="4630000"/>
            <a:ext cx="796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8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Trao sổ bảo hành CPO + giấy tờ đầy đủ. Hướng dẫn KH tính năng xe và nhắc lịch bảo dưỡng.</a:t>
            </a:r>
          </a:p>
        </p:txBody>
      </p:sp>
      <p:sp>
        <p:nvSpPr>
          <p:cNvPr id="540" name="Sep5"/>
          <p:cNvSpPr/>
          <p:nvPr/>
        </p:nvSpPr>
        <p:spPr>
          <a:xfrm>
            <a:off x="280000" y="5380000"/>
            <a:ext cx="11632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541" name="RowBg6"/>
          <p:cNvSpPr/>
          <p:nvPr/>
        </p:nvSpPr>
        <p:spPr>
          <a:xfrm>
            <a:off x="280000" y="5390000"/>
            <a:ext cx="11632000" cy="76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542" name="NumBg6"/>
          <p:cNvSpPr/>
          <p:nvPr/>
        </p:nvSpPr>
        <p:spPr>
          <a:xfrm>
            <a:off x="280000" y="5390000"/>
            <a:ext cx="320000" cy="7600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543" name="NumT6"/>
          <p:cNvSpPr/>
          <p:nvPr/>
        </p:nvSpPr>
        <p:spPr>
          <a:xfrm>
            <a:off x="280000" y="5390000"/>
            <a:ext cx="32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</a:p>
        </p:txBody>
      </p:sp>
      <p:sp>
        <p:nvSpPr>
          <p:cNvPr id="544" name="Bar6"/>
          <p:cNvSpPr/>
          <p:nvPr/>
        </p:nvSpPr>
        <p:spPr>
          <a:xfrm>
            <a:off x="600000" y="5390000"/>
            <a:ext cx="12000" cy="7600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545" name="StepT6"/>
          <p:cNvSpPr/>
          <p:nvPr/>
        </p:nvSpPr>
        <p:spPr>
          <a:xfrm>
            <a:off x="692000" y="5390000"/>
            <a:ext cx="32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HỒ SƠ NỘI BỘ</a:t>
            </a:r>
          </a:p>
        </p:txBody>
      </p:sp>
      <p:sp>
        <p:nvSpPr>
          <p:cNvPr id="546" name="StepD6"/>
          <p:cNvSpPr/>
          <p:nvPr/>
        </p:nvSpPr>
        <p:spPr>
          <a:xfrm>
            <a:off x="3952000" y="5390000"/>
            <a:ext cx="796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8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 toán lưu: Biên bản bàn giao + phiếu đề xuất + HĐ mua bán. Phòng xe cũ lưu bản photo.</a:t>
            </a:r>
          </a:p>
        </p:txBody>
      </p:sp>
      <p:sp>
        <p:nvSpPr>
          <p:cNvPr id="547" name="Sep6"/>
          <p:cNvSpPr/>
          <p:nvPr/>
        </p:nvSpPr>
        <p:spPr>
          <a:xfrm>
            <a:off x="280000" y="6140000"/>
            <a:ext cx="11632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548" name="FBar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49" name="FTx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0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</a:p>
        </p:txBody>
      </p:sp>
      <p:sp>
        <p:nvSpPr>
          <p:cNvPr id="550" name="FPg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vi-VN" sz="1000" b="0" kern="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/>
      <p:sp>
        <p:nvSpPr>
          <p:cNvPr id="551" name="LBar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52" name="P06Lbl"/>
          <p:cNvSpPr/>
          <p:nvPr/>
        </p:nvSpPr>
        <p:spPr>
          <a:xfrm>
            <a:off x="914400" y="210000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600" b="1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06</a:t>
            </a:r>
          </a:p>
        </p:txBody>
      </p:sp>
      <p:sp>
        <p:nvSpPr>
          <p:cNvPr id="553" name="P06Title"/>
          <p:cNvSpPr/>
          <p:nvPr/>
        </p:nvSpPr>
        <p:spPr>
          <a:xfrm>
            <a:off x="914400" y="2700000"/>
            <a:ext cx="100584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4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VAY NH &amp; TÌNH HUỐNG KHÓ</a:t>
            </a:r>
          </a:p>
        </p:txBody>
      </p:sp>
      <p:sp>
        <p:nvSpPr>
          <p:cNvPr id="554" name="P06Sub"/>
          <p:cNvSpPr/>
          <p:nvPr/>
        </p:nvSpPr>
        <p:spPr>
          <a:xfrm>
            <a:off x="914400" y="420000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600" b="0" kern="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Hồ sơ NH  ·  8 tình huống  ·  Hành động ngay</a:t>
            </a:r>
          </a:p>
        </p:txBody>
      </p:sp>
      <p:sp>
        <p:nvSpPr>
          <p:cNvPr id="555" name="P06Line"/>
          <p:cNvSpPr/>
          <p:nvPr/>
        </p:nvSpPr>
        <p:spPr>
          <a:xfrm>
            <a:off x="914400" y="4900000"/>
            <a:ext cx="1200000" cy="16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56" name="Brand"/>
          <p:cNvSpPr/>
          <p:nvPr/>
        </p:nvSpPr>
        <p:spPr>
          <a:xfrm>
            <a:off x="914400" y="612648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100" b="1" kern="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</a:t>
            </a:r>
          </a:p>
        </p:txBody>
      </p:sp>
      <p:sp>
        <p:nvSpPr>
          <p:cNvPr id="557" name="Pg27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vi-VN" sz="1000" b="0" kern="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58" name="RedBar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59" name="Phan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1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06</a:t>
            </a:r>
          </a:p>
        </p:txBody>
      </p:sp>
      <p:sp>
        <p:nvSpPr>
          <p:cNvPr id="560" name="Title"/>
          <p:cNvSpPr/>
          <p:nvPr/>
        </p:nvSpPr>
        <p:spPr>
          <a:xfrm>
            <a:off x="548640" y="580000"/>
            <a:ext cx="10972800" cy="6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8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Thủ tục vay ngân hàng mua xe cũ</a:t>
            </a:r>
          </a:p>
        </p:txBody>
      </p:sp>
      <p:sp>
        <p:nvSpPr>
          <p:cNvPr id="561" name="Sub"/>
          <p:cNvSpPr/>
          <p:nvPr/>
        </p:nvSpPr>
        <p:spPr>
          <a:xfrm>
            <a:off x="548640" y="1200000"/>
            <a:ext cx="109728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Nắm vững hồ sơ để hỗ trợ KH vay suôn sẻ – không để deal đổ vì thiếu giấy tờ</a:t>
            </a:r>
          </a:p>
        </p:txBody>
      </p:sp>
      <p:sp>
        <p:nvSpPr>
          <p:cNvPr id="562" name="Line"/>
          <p:cNvSpPr/>
          <p:nvPr/>
        </p:nvSpPr>
        <p:spPr>
          <a:xfrm>
            <a:off x="548640" y="1530000"/>
            <a:ext cx="10972800" cy="16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563" name="LBg"/>
          <p:cNvSpPr/>
          <p:nvPr/>
        </p:nvSpPr>
        <p:spPr>
          <a:xfrm>
            <a:off x="300000" y="1580000"/>
            <a:ext cx="5700000" cy="468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564" name="LHdr"/>
          <p:cNvSpPr/>
          <p:nvPr/>
        </p:nvSpPr>
        <p:spPr>
          <a:xfrm>
            <a:off x="300000" y="1580000"/>
            <a:ext cx="5700000" cy="42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65" name="LHdrT"/>
          <p:cNvSpPr/>
          <p:nvPr/>
        </p:nvSpPr>
        <p:spPr>
          <a:xfrm>
            <a:off x="300000" y="1580000"/>
            <a:ext cx="5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08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HỒ SƠ GIẢI NGÂN (XE CÔNG CHỨNG)</a:t>
            </a:r>
          </a:p>
        </p:txBody>
      </p:sp>
      <p:sp>
        <p:nvSpPr>
          <p:cNvPr id="566" name="DN0"/>
          <p:cNvSpPr/>
          <p:nvPr/>
        </p:nvSpPr>
        <p:spPr>
          <a:xfrm>
            <a:off x="360000" y="2260000"/>
            <a:ext cx="190000" cy="19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67" name="DNN0"/>
          <p:cNvSpPr/>
          <p:nvPr/>
        </p:nvSpPr>
        <p:spPr>
          <a:xfrm>
            <a:off x="360000" y="2260000"/>
            <a:ext cx="1900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88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</a:p>
        </p:txBody>
      </p:sp>
      <p:sp>
        <p:nvSpPr>
          <p:cNvPr id="568" name="DTx0"/>
          <p:cNvSpPr/>
          <p:nvPr/>
        </p:nvSpPr>
        <p:spPr>
          <a:xfrm>
            <a:off x="600000" y="2000000"/>
            <a:ext cx="5260000" cy="7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6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Giấy hẹn đăng ký / Giấy đăng ký xe (bản gốc)</a:t>
            </a:r>
          </a:p>
        </p:txBody>
      </p:sp>
      <p:sp>
        <p:nvSpPr>
          <p:cNvPr id="569" name="DS0"/>
          <p:cNvSpPr/>
          <p:nvPr/>
        </p:nvSpPr>
        <p:spPr>
          <a:xfrm>
            <a:off x="340000" y="2700000"/>
            <a:ext cx="5660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570" name="DN1"/>
          <p:cNvSpPr/>
          <p:nvPr/>
        </p:nvSpPr>
        <p:spPr>
          <a:xfrm>
            <a:off x="360000" y="2970000"/>
            <a:ext cx="190000" cy="19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71" name="DNN1"/>
          <p:cNvSpPr/>
          <p:nvPr/>
        </p:nvSpPr>
        <p:spPr>
          <a:xfrm>
            <a:off x="360000" y="2970000"/>
            <a:ext cx="1900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88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</a:p>
        </p:txBody>
      </p:sp>
      <p:sp>
        <p:nvSpPr>
          <p:cNvPr id="572" name="DTx1"/>
          <p:cNvSpPr/>
          <p:nvPr/>
        </p:nvSpPr>
        <p:spPr>
          <a:xfrm>
            <a:off x="600000" y="2710000"/>
            <a:ext cx="5260000" cy="7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6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HĐ ủy quyền + HĐ mua bán công chứng (sao y)</a:t>
            </a:r>
          </a:p>
        </p:txBody>
      </p:sp>
      <p:sp>
        <p:nvSpPr>
          <p:cNvPr id="573" name="DS1"/>
          <p:cNvSpPr/>
          <p:nvPr/>
        </p:nvSpPr>
        <p:spPr>
          <a:xfrm>
            <a:off x="340000" y="3410000"/>
            <a:ext cx="5660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574" name="DN2"/>
          <p:cNvSpPr/>
          <p:nvPr/>
        </p:nvSpPr>
        <p:spPr>
          <a:xfrm>
            <a:off x="360000" y="3680000"/>
            <a:ext cx="190000" cy="19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75" name="DNN2"/>
          <p:cNvSpPr/>
          <p:nvPr/>
        </p:nvSpPr>
        <p:spPr>
          <a:xfrm>
            <a:off x="360000" y="3680000"/>
            <a:ext cx="1900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88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</a:p>
        </p:txBody>
      </p:sp>
      <p:sp>
        <p:nvSpPr>
          <p:cNvPr id="576" name="DTx2"/>
          <p:cNvSpPr/>
          <p:nvPr/>
        </p:nvSpPr>
        <p:spPr>
          <a:xfrm>
            <a:off x="600000" y="3420000"/>
            <a:ext cx="5260000" cy="7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6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Hợp đồng bảo hiểm vật chất (bắt buộc khi vay)</a:t>
            </a:r>
          </a:p>
        </p:txBody>
      </p:sp>
      <p:sp>
        <p:nvSpPr>
          <p:cNvPr id="577" name="DS2"/>
          <p:cNvSpPr/>
          <p:nvPr/>
        </p:nvSpPr>
        <p:spPr>
          <a:xfrm>
            <a:off x="340000" y="4120000"/>
            <a:ext cx="5660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578" name="DN3"/>
          <p:cNvSpPr/>
          <p:nvPr/>
        </p:nvSpPr>
        <p:spPr>
          <a:xfrm>
            <a:off x="360000" y="4390000"/>
            <a:ext cx="190000" cy="19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79" name="DNN3"/>
          <p:cNvSpPr/>
          <p:nvPr/>
        </p:nvSpPr>
        <p:spPr>
          <a:xfrm>
            <a:off x="360000" y="4390000"/>
            <a:ext cx="1900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88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</a:p>
        </p:txBody>
      </p:sp>
      <p:sp>
        <p:nvSpPr>
          <p:cNvPr id="580" name="DTx3"/>
          <p:cNvSpPr/>
          <p:nvPr/>
        </p:nvSpPr>
        <p:spPr>
          <a:xfrm>
            <a:off x="600000" y="4130000"/>
            <a:ext cx="5260000" cy="7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6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Giấy đề nghị giải ngân (có xác nhận tiền đối ứng)</a:t>
            </a:r>
          </a:p>
        </p:txBody>
      </p:sp>
      <p:sp>
        <p:nvSpPr>
          <p:cNvPr id="581" name="DS3"/>
          <p:cNvSpPr/>
          <p:nvPr/>
        </p:nvSpPr>
        <p:spPr>
          <a:xfrm>
            <a:off x="340000" y="4830000"/>
            <a:ext cx="5660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582" name="DN4"/>
          <p:cNvSpPr/>
          <p:nvPr/>
        </p:nvSpPr>
        <p:spPr>
          <a:xfrm>
            <a:off x="360000" y="5100000"/>
            <a:ext cx="190000" cy="19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83" name="DNN4"/>
          <p:cNvSpPr/>
          <p:nvPr/>
        </p:nvSpPr>
        <p:spPr>
          <a:xfrm>
            <a:off x="360000" y="5100000"/>
            <a:ext cx="1900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88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</a:p>
        </p:txBody>
      </p:sp>
      <p:sp>
        <p:nvSpPr>
          <p:cNvPr id="584" name="DTx4"/>
          <p:cNvSpPr/>
          <p:nvPr/>
        </p:nvSpPr>
        <p:spPr>
          <a:xfrm>
            <a:off x="600000" y="4840000"/>
            <a:ext cx="5260000" cy="7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6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HĐ thỏa thuận mua bán xe (bên bán &amp; bên mua)</a:t>
            </a:r>
          </a:p>
        </p:txBody>
      </p:sp>
      <p:sp>
        <p:nvSpPr>
          <p:cNvPr id="585" name="DS4"/>
          <p:cNvSpPr/>
          <p:nvPr/>
        </p:nvSpPr>
        <p:spPr>
          <a:xfrm>
            <a:off x="340000" y="5540000"/>
            <a:ext cx="5660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586" name="DN5"/>
          <p:cNvSpPr/>
          <p:nvPr/>
        </p:nvSpPr>
        <p:spPr>
          <a:xfrm>
            <a:off x="360000" y="5810000"/>
            <a:ext cx="190000" cy="19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587" name="DNN5"/>
          <p:cNvSpPr/>
          <p:nvPr/>
        </p:nvSpPr>
        <p:spPr>
          <a:xfrm>
            <a:off x="360000" y="5810000"/>
            <a:ext cx="1900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88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</a:p>
        </p:txBody>
      </p:sp>
      <p:sp>
        <p:nvSpPr>
          <p:cNvPr id="588" name="DTx5"/>
          <p:cNvSpPr/>
          <p:nvPr/>
        </p:nvSpPr>
        <p:spPr>
          <a:xfrm>
            <a:off x="600000" y="5550000"/>
            <a:ext cx="5260000" cy="7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6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CCCD bên bán + CCCD bên mua (bản photo công chứng)</a:t>
            </a:r>
          </a:p>
        </p:txBody>
      </p:sp>
      <p:sp>
        <p:nvSpPr>
          <p:cNvPr id="589" name="RBg"/>
          <p:cNvSpPr/>
          <p:nvPr/>
        </p:nvSpPr>
        <p:spPr>
          <a:xfrm>
            <a:off x="6192000" y="1580000"/>
            <a:ext cx="5700000" cy="46800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590" name="RHdr"/>
          <p:cNvSpPr/>
          <p:nvPr/>
        </p:nvSpPr>
        <p:spPr>
          <a:xfrm>
            <a:off x="6192000" y="1580000"/>
            <a:ext cx="5700000" cy="4200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591" name="RHdrT"/>
          <p:cNvSpPr/>
          <p:nvPr/>
        </p:nvSpPr>
        <p:spPr>
          <a:xfrm>
            <a:off x="6192000" y="1580000"/>
            <a:ext cx="5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08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Ý KHI TƯ VẤN VAY NGÂN HÀNG</a:t>
            </a:r>
          </a:p>
        </p:txBody>
      </p:sp>
      <p:sp>
        <p:nvSpPr>
          <p:cNvPr id="592" name="TN0"/>
          <p:cNvSpPr/>
          <p:nvPr/>
        </p:nvSpPr>
        <p:spPr>
          <a:xfrm>
            <a:off x="6252000" y="2209285"/>
            <a:ext cx="190000" cy="1900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593" name="TNN0"/>
          <p:cNvSpPr/>
          <p:nvPr/>
        </p:nvSpPr>
        <p:spPr>
          <a:xfrm>
            <a:off x="6252000" y="2209285"/>
            <a:ext cx="1900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9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</a:p>
        </p:txBody>
      </p:sp>
      <p:sp>
        <p:nvSpPr>
          <p:cNvPr id="594" name="TTx0"/>
          <p:cNvSpPr/>
          <p:nvPr/>
        </p:nvSpPr>
        <p:spPr>
          <a:xfrm>
            <a:off x="6492000" y="2000000"/>
            <a:ext cx="5380000" cy="60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6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 KH: Đã từng vay chưa? Lịch sử CIC tốt không?</a:t>
            </a:r>
          </a:p>
        </p:txBody>
      </p:sp>
      <p:sp>
        <p:nvSpPr>
          <p:cNvPr id="595" name="TS0"/>
          <p:cNvSpPr/>
          <p:nvPr/>
        </p:nvSpPr>
        <p:spPr>
          <a:xfrm>
            <a:off x="6232000" y="2598571"/>
            <a:ext cx="5640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596" name="TN1"/>
          <p:cNvSpPr/>
          <p:nvPr/>
        </p:nvSpPr>
        <p:spPr>
          <a:xfrm>
            <a:off x="6252000" y="2817856"/>
            <a:ext cx="190000" cy="1900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597" name="TNN1"/>
          <p:cNvSpPr/>
          <p:nvPr/>
        </p:nvSpPr>
        <p:spPr>
          <a:xfrm>
            <a:off x="6252000" y="2817856"/>
            <a:ext cx="1900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9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</a:p>
        </p:txBody>
      </p:sp>
      <p:sp>
        <p:nvSpPr>
          <p:cNvPr id="598" name="TTx1"/>
          <p:cNvSpPr/>
          <p:nvPr/>
        </p:nvSpPr>
        <p:spPr>
          <a:xfrm>
            <a:off x="6492000" y="2608571"/>
            <a:ext cx="5380000" cy="60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6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Vay tối đa 70–80% giá trị xe (tùy từng ngân hàng)</a:t>
            </a:r>
          </a:p>
        </p:txBody>
      </p:sp>
      <p:sp>
        <p:nvSpPr>
          <p:cNvPr id="599" name="TS1"/>
          <p:cNvSpPr/>
          <p:nvPr/>
        </p:nvSpPr>
        <p:spPr>
          <a:xfrm>
            <a:off x="6232000" y="3207142"/>
            <a:ext cx="5640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600" name="TN2"/>
          <p:cNvSpPr/>
          <p:nvPr/>
        </p:nvSpPr>
        <p:spPr>
          <a:xfrm>
            <a:off x="6252000" y="3426427"/>
            <a:ext cx="190000" cy="1900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601" name="TNN2"/>
          <p:cNvSpPr/>
          <p:nvPr/>
        </p:nvSpPr>
        <p:spPr>
          <a:xfrm>
            <a:off x="6252000" y="3426427"/>
            <a:ext cx="1900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9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</a:p>
        </p:txBody>
      </p:sp>
      <p:sp>
        <p:nvSpPr>
          <p:cNvPr id="602" name="TTx2"/>
          <p:cNvSpPr/>
          <p:nvPr/>
        </p:nvSpPr>
        <p:spPr>
          <a:xfrm>
            <a:off x="6492000" y="3217142"/>
            <a:ext cx="5380000" cy="60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6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Lãi suất 8–12%/năm  ·  Kỳ hạn 12–60 tháng</a:t>
            </a:r>
          </a:p>
        </p:txBody>
      </p:sp>
      <p:sp>
        <p:nvSpPr>
          <p:cNvPr id="603" name="TS2"/>
          <p:cNvSpPr/>
          <p:nvPr/>
        </p:nvSpPr>
        <p:spPr>
          <a:xfrm>
            <a:off x="6232000" y="3815713"/>
            <a:ext cx="5640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604" name="TN3"/>
          <p:cNvSpPr/>
          <p:nvPr/>
        </p:nvSpPr>
        <p:spPr>
          <a:xfrm>
            <a:off x="6252000" y="4034998"/>
            <a:ext cx="190000" cy="19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605" name="TNN3"/>
          <p:cNvSpPr/>
          <p:nvPr/>
        </p:nvSpPr>
        <p:spPr>
          <a:xfrm>
            <a:off x="6252000" y="4034998"/>
            <a:ext cx="1900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9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</a:p>
        </p:txBody>
      </p:sp>
      <p:sp>
        <p:nvSpPr>
          <p:cNvPr id="606" name="TTx3"/>
          <p:cNvSpPr/>
          <p:nvPr/>
        </p:nvSpPr>
        <p:spPr>
          <a:xfrm>
            <a:off x="6492000" y="3825713"/>
            <a:ext cx="5380000" cy="60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60" b="1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trên 10 năm: một số NH KHÔNG cho vay</a:t>
            </a:r>
          </a:p>
        </p:txBody>
      </p:sp>
      <p:sp>
        <p:nvSpPr>
          <p:cNvPr id="607" name="TS3"/>
          <p:cNvSpPr/>
          <p:nvPr/>
        </p:nvSpPr>
        <p:spPr>
          <a:xfrm>
            <a:off x="6232000" y="4424284"/>
            <a:ext cx="5640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608" name="TN4"/>
          <p:cNvSpPr/>
          <p:nvPr/>
        </p:nvSpPr>
        <p:spPr>
          <a:xfrm>
            <a:off x="6252000" y="4643569"/>
            <a:ext cx="190000" cy="1900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609" name="TNN4"/>
          <p:cNvSpPr/>
          <p:nvPr/>
        </p:nvSpPr>
        <p:spPr>
          <a:xfrm>
            <a:off x="6252000" y="4643569"/>
            <a:ext cx="1900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9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</a:p>
        </p:txBody>
      </p:sp>
      <p:sp>
        <p:nvSpPr>
          <p:cNvPr id="610" name="TTx4"/>
          <p:cNvSpPr/>
          <p:nvPr/>
        </p:nvSpPr>
        <p:spPr>
          <a:xfrm>
            <a:off x="6492000" y="4434284"/>
            <a:ext cx="5380000" cy="60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60" b="1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Bắt buộc mua BHVC khi vay – tư vấn song song</a:t>
            </a:r>
          </a:p>
        </p:txBody>
      </p:sp>
      <p:sp>
        <p:nvSpPr>
          <p:cNvPr id="611" name="TS4"/>
          <p:cNvSpPr/>
          <p:nvPr/>
        </p:nvSpPr>
        <p:spPr>
          <a:xfrm>
            <a:off x="6232000" y="5032855"/>
            <a:ext cx="5640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612" name="TN5"/>
          <p:cNvSpPr/>
          <p:nvPr/>
        </p:nvSpPr>
        <p:spPr>
          <a:xfrm>
            <a:off x="6252000" y="5252140"/>
            <a:ext cx="190000" cy="1900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613" name="TNN5"/>
          <p:cNvSpPr/>
          <p:nvPr/>
        </p:nvSpPr>
        <p:spPr>
          <a:xfrm>
            <a:off x="6252000" y="5252140"/>
            <a:ext cx="1900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9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</a:p>
        </p:txBody>
      </p:sp>
      <p:sp>
        <p:nvSpPr>
          <p:cNvPr id="614" name="TTx5"/>
          <p:cNvSpPr/>
          <p:nvPr/>
        </p:nvSpPr>
        <p:spPr>
          <a:xfrm>
            <a:off x="6492000" y="5042855"/>
            <a:ext cx="5380000" cy="60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6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giải ngân: 1–3 ngày làm việc</a:t>
            </a:r>
          </a:p>
        </p:txBody>
      </p:sp>
      <p:sp>
        <p:nvSpPr>
          <p:cNvPr id="615" name="TS5"/>
          <p:cNvSpPr/>
          <p:nvPr/>
        </p:nvSpPr>
        <p:spPr>
          <a:xfrm>
            <a:off x="6232000" y="5641426"/>
            <a:ext cx="5640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616" name="TN6"/>
          <p:cNvSpPr/>
          <p:nvPr/>
        </p:nvSpPr>
        <p:spPr>
          <a:xfrm>
            <a:off x="6252000" y="5860711"/>
            <a:ext cx="190000" cy="1900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617" name="TNN6"/>
          <p:cNvSpPr/>
          <p:nvPr/>
        </p:nvSpPr>
        <p:spPr>
          <a:xfrm>
            <a:off x="6252000" y="5860711"/>
            <a:ext cx="1900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9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</a:p>
        </p:txBody>
      </p:sp>
      <p:sp>
        <p:nvSpPr>
          <p:cNvPr id="618" name="TTx6"/>
          <p:cNvSpPr/>
          <p:nvPr/>
        </p:nvSpPr>
        <p:spPr>
          <a:xfrm>
            <a:off x="6492000" y="5651426"/>
            <a:ext cx="5380000" cy="60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6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Đại lý hỗ trợ hồ sơ – không để KH tự làm một mình</a:t>
            </a:r>
          </a:p>
        </p:txBody>
      </p:sp>
      <p:sp>
        <p:nvSpPr>
          <p:cNvPr id="619" name="FBar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620" name="FTx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0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</a:p>
        </p:txBody>
      </p:sp>
      <p:sp>
        <p:nvSpPr>
          <p:cNvPr id="621" name="FPg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vi-VN" sz="1000" b="0" kern="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22" name="RedBar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623" name="Phan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1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06</a:t>
            </a:r>
          </a:p>
        </p:txBody>
      </p:sp>
      <p:sp>
        <p:nvSpPr>
          <p:cNvPr id="624" name="Title"/>
          <p:cNvSpPr/>
          <p:nvPr/>
        </p:nvSpPr>
        <p:spPr>
          <a:xfrm>
            <a:off x="548640" y="580000"/>
            <a:ext cx="10972800" cy="6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8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tình huống khó thường gặp &amp; cách xử lý</a:t>
            </a:r>
          </a:p>
        </p:txBody>
      </p:sp>
      <p:sp>
        <p:nvSpPr>
          <p:cNvPr id="625" name="Sub"/>
          <p:cNvSpPr/>
          <p:nvPr/>
        </p:nvSpPr>
        <p:spPr>
          <a:xfrm>
            <a:off x="548640" y="1200000"/>
            <a:ext cx="109728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trước – xử lý khéo – không mất deal vì bất ngờ</a:t>
            </a:r>
          </a:p>
        </p:txBody>
      </p:sp>
      <p:sp>
        <p:nvSpPr>
          <p:cNvPr id="626" name="Line"/>
          <p:cNvSpPr/>
          <p:nvPr/>
        </p:nvSpPr>
        <p:spPr>
          <a:xfrm>
            <a:off x="548640" y="1530000"/>
            <a:ext cx="10972800" cy="16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627" name="SBg1"/>
          <p:cNvSpPr/>
          <p:nvPr/>
        </p:nvSpPr>
        <p:spPr>
          <a:xfrm>
            <a:off x="280000" y="1590000"/>
            <a:ext cx="5741000" cy="11145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628" name="SLB1"/>
          <p:cNvSpPr/>
          <p:nvPr/>
        </p:nvSpPr>
        <p:spPr>
          <a:xfrm>
            <a:off x="280000" y="1590000"/>
            <a:ext cx="220000" cy="11145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629" name="SN1"/>
          <p:cNvSpPr/>
          <p:nvPr/>
        </p:nvSpPr>
        <p:spPr>
          <a:xfrm>
            <a:off x="280000" y="1590000"/>
            <a:ext cx="220000" cy="11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5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630" name="ST1"/>
          <p:cNvSpPr/>
          <p:nvPr/>
        </p:nvSpPr>
        <p:spPr>
          <a:xfrm>
            <a:off x="570000" y="1620000"/>
            <a:ext cx="5431000" cy="460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vi-VN" sz="102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 TRẢ GIÁ NHIỀU QUA ĐIỆN THOẠI</a:t>
            </a:r>
          </a:p>
        </p:txBody>
      </p:sp>
      <p:sp>
        <p:nvSpPr>
          <p:cNvPr id="631" name="SS1"/>
          <p:cNvSpPr/>
          <p:nvPr/>
        </p:nvSpPr>
        <p:spPr>
          <a:xfrm>
            <a:off x="570000" y="2080380"/>
            <a:ext cx="5431000" cy="12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632" name="SA1"/>
          <p:cNvSpPr/>
          <p:nvPr/>
        </p:nvSpPr>
        <p:spPr>
          <a:xfrm>
            <a:off x="570000" y="2110380"/>
            <a:ext cx="5431000" cy="584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vi-VN" sz="97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Không báo giá qua điện thoại. Mời KH đến xem xe thực tế rồi thương lượng trực tiếp.</a:t>
            </a:r>
          </a:p>
        </p:txBody>
      </p:sp>
      <p:sp>
        <p:nvSpPr>
          <p:cNvPr id="633" name="SBg2"/>
          <p:cNvSpPr/>
          <p:nvPr/>
        </p:nvSpPr>
        <p:spPr>
          <a:xfrm>
            <a:off x="6171000" y="1590000"/>
            <a:ext cx="5741000" cy="11145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634" name="SLB2"/>
          <p:cNvSpPr/>
          <p:nvPr/>
        </p:nvSpPr>
        <p:spPr>
          <a:xfrm>
            <a:off x="6171000" y="1590000"/>
            <a:ext cx="220000" cy="11145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635" name="SN2"/>
          <p:cNvSpPr/>
          <p:nvPr/>
        </p:nvSpPr>
        <p:spPr>
          <a:xfrm>
            <a:off x="6171000" y="1590000"/>
            <a:ext cx="220000" cy="11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5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636" name="ST2"/>
          <p:cNvSpPr/>
          <p:nvPr/>
        </p:nvSpPr>
        <p:spPr>
          <a:xfrm>
            <a:off x="6461000" y="1620000"/>
            <a:ext cx="5431000" cy="460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vi-VN" sz="102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 KHẢO GIÁ NHIỀU TVBH TRONG ĐẠI LÝ</a:t>
            </a:r>
          </a:p>
        </p:txBody>
      </p:sp>
      <p:sp>
        <p:nvSpPr>
          <p:cNvPr id="637" name="SS2"/>
          <p:cNvSpPr/>
          <p:nvPr/>
        </p:nvSpPr>
        <p:spPr>
          <a:xfrm>
            <a:off x="6461000" y="2080380"/>
            <a:ext cx="5431000" cy="12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638" name="SA2"/>
          <p:cNvSpPr/>
          <p:nvPr/>
        </p:nvSpPr>
        <p:spPr>
          <a:xfrm>
            <a:off x="6461000" y="2110380"/>
            <a:ext cx="5431000" cy="584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vi-VN" sz="97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Phối hợp nội bộ, thống nhất giá chung. Tránh cạnh tranh giảm giá nội bộ gây mất đoàn kết.</a:t>
            </a:r>
          </a:p>
        </p:txBody>
      </p:sp>
      <p:sp>
        <p:nvSpPr>
          <p:cNvPr id="639" name="SBg3"/>
          <p:cNvSpPr/>
          <p:nvPr/>
        </p:nvSpPr>
        <p:spPr>
          <a:xfrm>
            <a:off x="280000" y="2854500"/>
            <a:ext cx="5741000" cy="11145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640" name="SLB3"/>
          <p:cNvSpPr/>
          <p:nvPr/>
        </p:nvSpPr>
        <p:spPr>
          <a:xfrm>
            <a:off x="280000" y="2854500"/>
            <a:ext cx="220000" cy="11145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641" name="SN3"/>
          <p:cNvSpPr/>
          <p:nvPr/>
        </p:nvSpPr>
        <p:spPr>
          <a:xfrm>
            <a:off x="280000" y="2854500"/>
            <a:ext cx="220000" cy="11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5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642" name="ST3"/>
          <p:cNvSpPr/>
          <p:nvPr/>
        </p:nvSpPr>
        <p:spPr>
          <a:xfrm>
            <a:off x="570000" y="2884500"/>
            <a:ext cx="5431000" cy="460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vi-VN" sz="102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 CAO HƠN SALON / ĐẠI LÝ KHÁC</a:t>
            </a:r>
          </a:p>
        </p:txBody>
      </p:sp>
      <p:sp>
        <p:nvSpPr>
          <p:cNvPr id="643" name="SS3"/>
          <p:cNvSpPr/>
          <p:nvPr/>
        </p:nvSpPr>
        <p:spPr>
          <a:xfrm>
            <a:off x="570000" y="3344880"/>
            <a:ext cx="5431000" cy="12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644" name="SA3"/>
          <p:cNvSpPr/>
          <p:nvPr/>
        </p:nvSpPr>
        <p:spPr>
          <a:xfrm>
            <a:off x="570000" y="3374880"/>
            <a:ext cx="5431000" cy="584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vi-VN" sz="97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Nhấn giá trị: BH 12T, 167 điểm kỹ thuật, cam kết pháp lý bằng văn bản, tân trang chính hãng.</a:t>
            </a:r>
          </a:p>
        </p:txBody>
      </p:sp>
      <p:sp>
        <p:nvSpPr>
          <p:cNvPr id="645" name="SBg4"/>
          <p:cNvSpPr/>
          <p:nvPr/>
        </p:nvSpPr>
        <p:spPr>
          <a:xfrm>
            <a:off x="6171000" y="2854500"/>
            <a:ext cx="5741000" cy="11145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646" name="SLB4"/>
          <p:cNvSpPr/>
          <p:nvPr/>
        </p:nvSpPr>
        <p:spPr>
          <a:xfrm>
            <a:off x="6171000" y="2854500"/>
            <a:ext cx="220000" cy="11145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647" name="SN4"/>
          <p:cNvSpPr/>
          <p:nvPr/>
        </p:nvSpPr>
        <p:spPr>
          <a:xfrm>
            <a:off x="6171000" y="2854500"/>
            <a:ext cx="220000" cy="11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5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648" name="ST4"/>
          <p:cNvSpPr/>
          <p:nvPr/>
        </p:nvSpPr>
        <p:spPr>
          <a:xfrm>
            <a:off x="6461000" y="2884500"/>
            <a:ext cx="5431000" cy="460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vi-VN" sz="102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CHƯA LÊN STOCK ĐÃ CÓ TVBH BÁN</a:t>
            </a:r>
          </a:p>
        </p:txBody>
      </p:sp>
      <p:sp>
        <p:nvSpPr>
          <p:cNvPr id="649" name="SS4"/>
          <p:cNvSpPr/>
          <p:nvPr/>
        </p:nvSpPr>
        <p:spPr>
          <a:xfrm>
            <a:off x="6461000" y="3344880"/>
            <a:ext cx="5431000" cy="12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650" name="SA4"/>
          <p:cNvSpPr/>
          <p:nvPr/>
        </p:nvSpPr>
        <p:spPr>
          <a:xfrm>
            <a:off x="6461000" y="3374880"/>
            <a:ext cx="5431000" cy="584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vi-VN" sz="97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Báo ngay quản lý. Không nhận cọc khi xe chưa sẵn sàng – tránh rủi ro không giao được xe.</a:t>
            </a:r>
          </a:p>
        </p:txBody>
      </p:sp>
      <p:sp>
        <p:nvSpPr>
          <p:cNvPr id="651" name="SBg5"/>
          <p:cNvSpPr/>
          <p:nvPr/>
        </p:nvSpPr>
        <p:spPr>
          <a:xfrm>
            <a:off x="280000" y="4119000"/>
            <a:ext cx="5741000" cy="11145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652" name="SLB5"/>
          <p:cNvSpPr/>
          <p:nvPr/>
        </p:nvSpPr>
        <p:spPr>
          <a:xfrm>
            <a:off x="280000" y="4119000"/>
            <a:ext cx="220000" cy="11145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653" name="SN5"/>
          <p:cNvSpPr/>
          <p:nvPr/>
        </p:nvSpPr>
        <p:spPr>
          <a:xfrm>
            <a:off x="280000" y="4119000"/>
            <a:ext cx="220000" cy="11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5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654" name="ST5"/>
          <p:cNvSpPr/>
          <p:nvPr/>
        </p:nvSpPr>
        <p:spPr>
          <a:xfrm>
            <a:off x="570000" y="4149000"/>
            <a:ext cx="5431000" cy="460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vi-VN" sz="102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DỌN CHƯA ĐẠT, CÒN KHUYẾT ĐIỂM</a:t>
            </a:r>
          </a:p>
        </p:txBody>
      </p:sp>
      <p:sp>
        <p:nvSpPr>
          <p:cNvPr id="655" name="SS5"/>
          <p:cNvSpPr/>
          <p:nvPr/>
        </p:nvSpPr>
        <p:spPr>
          <a:xfrm>
            <a:off x="570000" y="4609380"/>
            <a:ext cx="5431000" cy="12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656" name="SA5"/>
          <p:cNvSpPr/>
          <p:nvPr/>
        </p:nvSpPr>
        <p:spPr>
          <a:xfrm>
            <a:off x="570000" y="4639380"/>
            <a:ext cx="5431000" cy="584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vi-VN" sz="97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Không đưa xe ra khi chưa đạt chuẩn. Thông báo thời gian hoàn thiện cụ thể cho KH.</a:t>
            </a:r>
          </a:p>
        </p:txBody>
      </p:sp>
      <p:sp>
        <p:nvSpPr>
          <p:cNvPr id="657" name="SBg6"/>
          <p:cNvSpPr/>
          <p:nvPr/>
        </p:nvSpPr>
        <p:spPr>
          <a:xfrm>
            <a:off x="6171000" y="4119000"/>
            <a:ext cx="5741000" cy="11145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658" name="SLB6"/>
          <p:cNvSpPr/>
          <p:nvPr/>
        </p:nvSpPr>
        <p:spPr>
          <a:xfrm>
            <a:off x="6171000" y="4119000"/>
            <a:ext cx="220000" cy="11145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659" name="SN6"/>
          <p:cNvSpPr/>
          <p:nvPr/>
        </p:nvSpPr>
        <p:spPr>
          <a:xfrm>
            <a:off x="6171000" y="4119000"/>
            <a:ext cx="220000" cy="11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5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</a:p>
        </p:txBody>
      </p:sp>
      <p:sp>
        <p:nvSpPr>
          <p:cNvPr id="660" name="ST6"/>
          <p:cNvSpPr/>
          <p:nvPr/>
        </p:nvSpPr>
        <p:spPr>
          <a:xfrm>
            <a:off x="6461000" y="4149000"/>
            <a:ext cx="5431000" cy="460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vi-VN" sz="102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THỦ TỤC THU HỒI BIỂN SỐ LÂU</a:t>
            </a:r>
          </a:p>
        </p:txBody>
      </p:sp>
      <p:sp>
        <p:nvSpPr>
          <p:cNvPr id="661" name="SS6"/>
          <p:cNvSpPr/>
          <p:nvPr/>
        </p:nvSpPr>
        <p:spPr>
          <a:xfrm>
            <a:off x="6461000" y="4609380"/>
            <a:ext cx="5431000" cy="12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662" name="SA6"/>
          <p:cNvSpPr/>
          <p:nvPr/>
        </p:nvSpPr>
        <p:spPr>
          <a:xfrm>
            <a:off x="6461000" y="4639380"/>
            <a:ext cx="5431000" cy="584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vi-VN" sz="97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Giải thích quy trình 2–4 tuần từ đầu. Chủ động cập nhật tiến độ thường xuyên cho KH.</a:t>
            </a:r>
          </a:p>
        </p:txBody>
      </p:sp>
      <p:sp>
        <p:nvSpPr>
          <p:cNvPr id="663" name="SBg7"/>
          <p:cNvSpPr/>
          <p:nvPr/>
        </p:nvSpPr>
        <p:spPr>
          <a:xfrm>
            <a:off x="280000" y="5383500"/>
            <a:ext cx="5741000" cy="11145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664" name="SLB7"/>
          <p:cNvSpPr/>
          <p:nvPr/>
        </p:nvSpPr>
        <p:spPr>
          <a:xfrm>
            <a:off x="280000" y="5383500"/>
            <a:ext cx="220000" cy="11145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665" name="SN7"/>
          <p:cNvSpPr/>
          <p:nvPr/>
        </p:nvSpPr>
        <p:spPr>
          <a:xfrm>
            <a:off x="280000" y="5383500"/>
            <a:ext cx="220000" cy="11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5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</a:p>
        </p:txBody>
      </p:sp>
      <p:sp>
        <p:nvSpPr>
          <p:cNvPr id="666" name="ST7"/>
          <p:cNvSpPr/>
          <p:nvPr/>
        </p:nvSpPr>
        <p:spPr>
          <a:xfrm>
            <a:off x="570000" y="5413500"/>
            <a:ext cx="5431000" cy="460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vi-VN" sz="102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HẾT ĐĂNG KIỂM / ÂM ĐƯỜNG BỘ</a:t>
            </a:r>
          </a:p>
        </p:txBody>
      </p:sp>
      <p:sp>
        <p:nvSpPr>
          <p:cNvPr id="667" name="SS7"/>
          <p:cNvSpPr/>
          <p:nvPr/>
        </p:nvSpPr>
        <p:spPr>
          <a:xfrm>
            <a:off x="570000" y="5873880"/>
            <a:ext cx="5431000" cy="12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668" name="SA7"/>
          <p:cNvSpPr/>
          <p:nvPr/>
        </p:nvSpPr>
        <p:spPr>
          <a:xfrm>
            <a:off x="570000" y="5903880"/>
            <a:ext cx="5431000" cy="584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vi-VN" sz="97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Kiểm tra trước khi tư vấn. Tính phí phát sinh và báo rõ KH trước khi ký hợp đồng.</a:t>
            </a:r>
          </a:p>
        </p:txBody>
      </p:sp>
      <p:sp>
        <p:nvSpPr>
          <p:cNvPr id="669" name="SBg8"/>
          <p:cNvSpPr/>
          <p:nvPr/>
        </p:nvSpPr>
        <p:spPr>
          <a:xfrm>
            <a:off x="6171000" y="5383500"/>
            <a:ext cx="5741000" cy="11145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670" name="SLB8"/>
          <p:cNvSpPr/>
          <p:nvPr/>
        </p:nvSpPr>
        <p:spPr>
          <a:xfrm>
            <a:off x="6171000" y="5383500"/>
            <a:ext cx="220000" cy="11145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671" name="SN8"/>
          <p:cNvSpPr/>
          <p:nvPr/>
        </p:nvSpPr>
        <p:spPr>
          <a:xfrm>
            <a:off x="6171000" y="5383500"/>
            <a:ext cx="220000" cy="11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5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</a:p>
        </p:txBody>
      </p:sp>
      <p:sp>
        <p:nvSpPr>
          <p:cNvPr id="672" name="ST8"/>
          <p:cNvSpPr/>
          <p:nvPr/>
        </p:nvSpPr>
        <p:spPr>
          <a:xfrm>
            <a:off x="6461000" y="5413500"/>
            <a:ext cx="5431000" cy="460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vi-VN" sz="102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 VƯỚNG CẢI TẠO – PHÁT SINH CHI PHÍ</a:t>
            </a:r>
          </a:p>
        </p:txBody>
      </p:sp>
      <p:sp>
        <p:nvSpPr>
          <p:cNvPr id="673" name="SS8"/>
          <p:cNvSpPr/>
          <p:nvPr/>
        </p:nvSpPr>
        <p:spPr>
          <a:xfrm>
            <a:off x="6461000" y="5873880"/>
            <a:ext cx="5431000" cy="12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674" name="SA8"/>
          <p:cNvSpPr/>
          <p:nvPr/>
        </p:nvSpPr>
        <p:spPr>
          <a:xfrm>
            <a:off x="6461000" y="5903880"/>
            <a:ext cx="5431000" cy="584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vi-VN" sz="97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Kiểm tra kỹ trước khi đưa vào stock. Thông báo rõ phí cải tạo cho KH trước khi chốt deal.</a:t>
            </a:r>
          </a:p>
        </p:txBody>
      </p:sp>
      <p:sp>
        <p:nvSpPr>
          <p:cNvPr id="675" name="FBar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676" name="FTx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0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</a:p>
        </p:txBody>
      </p:sp>
      <p:sp>
        <p:nvSpPr>
          <p:cNvPr id="677" name="FPg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vi-VN" sz="1000" b="0" kern="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8" name="RedBar"/>
          <p:cNvSpPr/>
          <p:nvPr/>
        </p:nvSpPr>
        <p:spPr>
          <a:xfrm>
            <a:off x="548640" y="411480"/>
            <a:ext cx="457200" cy="54864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679" name="Phan"/>
          <p:cNvSpPr/>
          <p:nvPr/>
        </p:nvSpPr>
        <p:spPr>
          <a:xfrm>
            <a:off x="1097280" y="320040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1" kern="0" dirty="0">
                <a:solidFill>
                  <a:srgbClr val="E600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06</a:t>
            </a:r>
          </a:p>
        </p:txBody>
      </p:sp>
      <p:sp>
        <p:nvSpPr>
          <p:cNvPr id="680" name="Title"/>
          <p:cNvSpPr/>
          <p:nvPr/>
        </p:nvSpPr>
        <p:spPr>
          <a:xfrm>
            <a:off x="548640" y="580000"/>
            <a:ext cx="10972800" cy="6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8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HÀNH ĐỘNG NGAY – Bắt đầu từ hôm nay!</a:t>
            </a:r>
          </a:p>
        </p:txBody>
      </p:sp>
      <p:sp>
        <p:nvSpPr>
          <p:cNvPr id="681" name="Sub"/>
          <p:cNvSpPr/>
          <p:nvPr/>
        </p:nvSpPr>
        <p:spPr>
          <a:xfrm>
            <a:off x="548640" y="1200000"/>
            <a:ext cx="109728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20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Đừng chờ – mỗi ngày không hành động là một cơ hội bị bỏ lỡ</a:t>
            </a:r>
          </a:p>
        </p:txBody>
      </p:sp>
      <p:sp>
        <p:nvSpPr>
          <p:cNvPr id="682" name="Line"/>
          <p:cNvSpPr/>
          <p:nvPr/>
        </p:nvSpPr>
        <p:spPr>
          <a:xfrm>
            <a:off x="548640" y="1530000"/>
            <a:ext cx="10972800" cy="16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683" name="AB🔍"/>
          <p:cNvSpPr/>
          <p:nvPr/>
        </p:nvSpPr>
        <p:spPr>
          <a:xfrm>
            <a:off x="300000" y="1590000"/>
            <a:ext cx="11592000" cy="9336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684" name="AIB🔍"/>
          <p:cNvSpPr/>
          <p:nvPr/>
        </p:nvSpPr>
        <p:spPr>
          <a:xfrm>
            <a:off x="300000" y="1590000"/>
            <a:ext cx="420000" cy="9336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685" name="AIC🔍"/>
          <p:cNvSpPr/>
          <p:nvPr/>
        </p:nvSpPr>
        <p:spPr>
          <a:xfrm>
            <a:off x="300000" y="1590000"/>
            <a:ext cx="420000" cy="9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2000" b="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</a:p>
        </p:txBody>
      </p:sp>
      <p:sp>
        <p:nvSpPr>
          <p:cNvPr id="686" name="ATL🔍"/>
          <p:cNvSpPr/>
          <p:nvPr/>
        </p:nvSpPr>
        <p:spPr>
          <a:xfrm>
            <a:off x="820000" y="1590000"/>
            <a:ext cx="11052000" cy="4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vi-VN" sz="13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HIỂU KHO XE NGAY</a:t>
            </a:r>
          </a:p>
        </p:txBody>
      </p:sp>
      <p:sp>
        <p:nvSpPr>
          <p:cNvPr id="687" name="ADC🔍"/>
          <p:cNvSpPr/>
          <p:nvPr/>
        </p:nvSpPr>
        <p:spPr>
          <a:xfrm>
            <a:off x="820000" y="2056800"/>
            <a:ext cx="11052000" cy="4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vi-VN" sz="108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thuộc 21 điểm về mỗi xe trong kho. Không biết xe → không tư vấn được → không có deal.</a:t>
            </a:r>
          </a:p>
        </p:txBody>
      </p:sp>
      <p:sp>
        <p:nvSpPr>
          <p:cNvPr id="688" name="ASep🔍"/>
          <p:cNvSpPr/>
          <p:nvPr/>
        </p:nvSpPr>
        <p:spPr>
          <a:xfrm>
            <a:off x="300000" y="2513600"/>
            <a:ext cx="11592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689" name="AB📱"/>
          <p:cNvSpPr/>
          <p:nvPr/>
        </p:nvSpPr>
        <p:spPr>
          <a:xfrm>
            <a:off x="300000" y="2583600"/>
            <a:ext cx="11592000" cy="9336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690" name="AIB📱"/>
          <p:cNvSpPr/>
          <p:nvPr/>
        </p:nvSpPr>
        <p:spPr>
          <a:xfrm>
            <a:off x="300000" y="2583600"/>
            <a:ext cx="420000" cy="9336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691" name="AIC📱"/>
          <p:cNvSpPr/>
          <p:nvPr/>
        </p:nvSpPr>
        <p:spPr>
          <a:xfrm>
            <a:off x="300000" y="2583600"/>
            <a:ext cx="420000" cy="9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2000" b="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</a:p>
        </p:txBody>
      </p:sp>
      <p:sp>
        <p:nvSpPr>
          <p:cNvPr id="692" name="ATL📱"/>
          <p:cNvSpPr/>
          <p:nvPr/>
        </p:nvSpPr>
        <p:spPr>
          <a:xfrm>
            <a:off x="820000" y="2583600"/>
            <a:ext cx="11052000" cy="4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vi-VN" sz="13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XE LÊN TẤT CẢ NỀN TẢNG</a:t>
            </a:r>
          </a:p>
        </p:txBody>
      </p:sp>
      <p:sp>
        <p:nvSpPr>
          <p:cNvPr id="693" name="ADC📱"/>
          <p:cNvSpPr/>
          <p:nvPr/>
        </p:nvSpPr>
        <p:spPr>
          <a:xfrm>
            <a:off x="820000" y="3050400"/>
            <a:ext cx="11052000" cy="4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vi-VN" sz="108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ngay lên Chợ Tốt, Bonbanh, Facebook – chọn nhiều khu vực, nhiều tỉnh để tối đa tiếp cận.</a:t>
            </a:r>
          </a:p>
        </p:txBody>
      </p:sp>
      <p:sp>
        <p:nvSpPr>
          <p:cNvPr id="694" name="ASep📱"/>
          <p:cNvSpPr/>
          <p:nvPr/>
        </p:nvSpPr>
        <p:spPr>
          <a:xfrm>
            <a:off x="300000" y="3507200"/>
            <a:ext cx="11592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695" name="AB🎬"/>
          <p:cNvSpPr/>
          <p:nvPr/>
        </p:nvSpPr>
        <p:spPr>
          <a:xfrm>
            <a:off x="300000" y="3577200"/>
            <a:ext cx="11592000" cy="9336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696" name="AIB🎬"/>
          <p:cNvSpPr/>
          <p:nvPr/>
        </p:nvSpPr>
        <p:spPr>
          <a:xfrm>
            <a:off x="300000" y="3577200"/>
            <a:ext cx="420000" cy="9336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697" name="AIC🎬"/>
          <p:cNvSpPr/>
          <p:nvPr/>
        </p:nvSpPr>
        <p:spPr>
          <a:xfrm>
            <a:off x="300000" y="3577200"/>
            <a:ext cx="420000" cy="9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2000" b="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</a:t>
            </a:r>
          </a:p>
        </p:txBody>
      </p:sp>
      <p:sp>
        <p:nvSpPr>
          <p:cNvPr id="698" name="ATL🎬"/>
          <p:cNvSpPr/>
          <p:nvPr/>
        </p:nvSpPr>
        <p:spPr>
          <a:xfrm>
            <a:off x="820000" y="3577200"/>
            <a:ext cx="11052000" cy="4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vi-VN" sz="13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KÊNH YOUTUBE / TIKTOK</a:t>
            </a:r>
          </a:p>
        </p:txBody>
      </p:sp>
      <p:sp>
        <p:nvSpPr>
          <p:cNvPr id="699" name="ADC🎬"/>
          <p:cNvSpPr/>
          <p:nvPr/>
        </p:nvSpPr>
        <p:spPr>
          <a:xfrm>
            <a:off x="820000" y="4044000"/>
            <a:ext cx="11052000" cy="4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vi-VN" sz="108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xe cũ có lượng xem tự nhiên rất lớn – đây là kênh tìm kiếm KH bền vững nhất hiện nay.</a:t>
            </a:r>
          </a:p>
        </p:txBody>
      </p:sp>
      <p:sp>
        <p:nvSpPr>
          <p:cNvPr id="700" name="ASep🎬"/>
          <p:cNvSpPr/>
          <p:nvPr/>
        </p:nvSpPr>
        <p:spPr>
          <a:xfrm>
            <a:off x="300000" y="4500800"/>
            <a:ext cx="11592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701" name="AB📞"/>
          <p:cNvSpPr/>
          <p:nvPr/>
        </p:nvSpPr>
        <p:spPr>
          <a:xfrm>
            <a:off x="300000" y="4570800"/>
            <a:ext cx="11592000" cy="9336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702" name="AIB📞"/>
          <p:cNvSpPr/>
          <p:nvPr/>
        </p:nvSpPr>
        <p:spPr>
          <a:xfrm>
            <a:off x="300000" y="4570800"/>
            <a:ext cx="420000" cy="933600"/>
          </a:xfrm>
          <a:prstGeom prst="rect">
            <a:avLst/>
          </a:prstGeom>
          <a:solidFill>
            <a:srgbClr val="1A1F36"/>
          </a:solidFill>
          <a:ln>
            <a:noFill/>
          </a:ln>
        </p:spPr>
      </p:sp>
      <p:sp>
        <p:nvSpPr>
          <p:cNvPr id="703" name="AIC📞"/>
          <p:cNvSpPr/>
          <p:nvPr/>
        </p:nvSpPr>
        <p:spPr>
          <a:xfrm>
            <a:off x="300000" y="4570800"/>
            <a:ext cx="420000" cy="9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2000" b="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</a:t>
            </a:r>
          </a:p>
        </p:txBody>
      </p:sp>
      <p:sp>
        <p:nvSpPr>
          <p:cNvPr id="704" name="ATL📞"/>
          <p:cNvSpPr/>
          <p:nvPr/>
        </p:nvSpPr>
        <p:spPr>
          <a:xfrm>
            <a:off x="820000" y="4570800"/>
            <a:ext cx="11052000" cy="4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vi-VN" sz="13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KHAI THÁC DATA KH MUA XE MỚI</a:t>
            </a:r>
          </a:p>
        </p:txBody>
      </p:sp>
      <p:sp>
        <p:nvSpPr>
          <p:cNvPr id="705" name="ADC📞"/>
          <p:cNvSpPr/>
          <p:nvPr/>
        </p:nvSpPr>
        <p:spPr>
          <a:xfrm>
            <a:off x="820000" y="5037600"/>
            <a:ext cx="11052000" cy="4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vi-VN" sz="108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Liên hệ lại KH đã mua xe mới – tư vấn Trade-in hoặc xe cũ cho người thân, bạn bè của họ.</a:t>
            </a:r>
          </a:p>
        </p:txBody>
      </p:sp>
      <p:sp>
        <p:nvSpPr>
          <p:cNvPr id="706" name="ASep📞"/>
          <p:cNvSpPr/>
          <p:nvPr/>
        </p:nvSpPr>
        <p:spPr>
          <a:xfrm>
            <a:off x="300000" y="5494400"/>
            <a:ext cx="11592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707" name="AB🧠"/>
          <p:cNvSpPr/>
          <p:nvPr/>
        </p:nvSpPr>
        <p:spPr>
          <a:xfrm>
            <a:off x="300000" y="5564400"/>
            <a:ext cx="11592000" cy="933600"/>
          </a:xfrm>
          <a:prstGeom prst="rect">
            <a:avLst/>
          </a:prstGeom>
          <a:solidFill>
            <a:srgbClr val="F0F2F5"/>
          </a:solidFill>
          <a:ln>
            <a:noFill/>
          </a:ln>
        </p:spPr>
      </p:sp>
      <p:sp>
        <p:nvSpPr>
          <p:cNvPr id="708" name="AIB🧠"/>
          <p:cNvSpPr/>
          <p:nvPr/>
        </p:nvSpPr>
        <p:spPr>
          <a:xfrm>
            <a:off x="300000" y="5564400"/>
            <a:ext cx="420000" cy="93360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709" name="AIC🧠"/>
          <p:cNvSpPr/>
          <p:nvPr/>
        </p:nvSpPr>
        <p:spPr>
          <a:xfrm>
            <a:off x="300000" y="5564400"/>
            <a:ext cx="420000" cy="9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2000" b="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</a:p>
        </p:txBody>
      </p:sp>
      <p:sp>
        <p:nvSpPr>
          <p:cNvPr id="710" name="ATL🧠"/>
          <p:cNvSpPr/>
          <p:nvPr/>
        </p:nvSpPr>
        <p:spPr>
          <a:xfrm>
            <a:off x="820000" y="5564400"/>
            <a:ext cx="11052000" cy="4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vi-VN" sz="1300" b="1" kern="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THUỘC 7 CAM KẾT &amp; 3B</a:t>
            </a:r>
          </a:p>
        </p:txBody>
      </p:sp>
      <p:sp>
        <p:nvSpPr>
          <p:cNvPr id="711" name="ADC🧠"/>
          <p:cNvSpPr/>
          <p:nvPr/>
        </p:nvSpPr>
        <p:spPr>
          <a:xfrm>
            <a:off x="820000" y="6031200"/>
            <a:ext cx="11052000" cy="4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vi-VN" sz="1080" b="0" kern="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Thuộc lòng 7 cam kết và chính sách 3B (Bảo hành · Bảo vệ giá · Bảo tín) – vũ khí tư vấn mạnh nhất.</a:t>
            </a:r>
          </a:p>
        </p:txBody>
      </p:sp>
      <p:sp>
        <p:nvSpPr>
          <p:cNvPr id="712" name="ASep🧠"/>
          <p:cNvSpPr/>
          <p:nvPr/>
        </p:nvSpPr>
        <p:spPr>
          <a:xfrm>
            <a:off x="300000" y="6488000"/>
            <a:ext cx="11592000" cy="10000"/>
          </a:xfrm>
          <a:prstGeom prst="rect">
            <a:avLst/>
          </a:prstGeom>
          <a:solidFill>
            <a:srgbClr val="E0E3E8"/>
          </a:solidFill>
          <a:ln>
            <a:noFill/>
          </a:ln>
        </p:spPr>
      </p:sp>
      <p:sp>
        <p:nvSpPr>
          <p:cNvPr id="713" name="FBar"/>
          <p:cNvSpPr/>
          <p:nvPr/>
        </p:nvSpPr>
        <p:spPr>
          <a:xfrm>
            <a:off x="365760" y="6446520"/>
            <a:ext cx="91440" cy="274320"/>
          </a:xfrm>
          <a:prstGeom prst="rect">
            <a:avLst/>
          </a:prstGeom>
          <a:solidFill>
            <a:srgbClr val="E60012"/>
          </a:solidFill>
          <a:ln>
            <a:noFill/>
          </a:ln>
        </p:spPr>
      </p:sp>
      <p:sp>
        <p:nvSpPr>
          <p:cNvPr id="714" name="FTx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1000" b="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MITSUBISHI TÂY NINH  ·  Kỹ năng Bán hàng Xe đã qua sử dụng</a:t>
            </a:r>
          </a:p>
        </p:txBody>
      </p:sp>
      <p:sp>
        <p:nvSpPr>
          <p:cNvPr id="715" name="FPg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vi-VN" sz="1000" b="0" kern="0" dirty="0">
                <a:solidFill>
                  <a:srgbClr val="B8B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Đào tạo Xe ĐQSD - Mitsubishi Tây Ninh</dc:title>
  <dc:subject>PptxGenJS Presentation</dc:subject>
  <dc:creator>PptxGenJS</dc:creator>
  <cp:lastModifiedBy>PptxGenJS</cp:lastModifiedBy>
  <cp:revision>1</cp:revision>
  <dcterms:created xsi:type="dcterms:W3CDTF">2026-05-01T03:58:37Z</dcterms:created>
  <dcterms:modified xsi:type="dcterms:W3CDTF">2026-05-01T03:58:37Z</dcterms:modified>
</cp:coreProperties>
</file>