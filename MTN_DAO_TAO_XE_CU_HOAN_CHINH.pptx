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31"/>
    <p:sldId id="277" r:id="rId23"/>
    <p:sldId id="278" r:id="rId24"/>
    <p:sldId id="279" r:id="rId25"/>
    <p:sldId id="281" r:id="rId32"/>
    <p:sldId id="282" r:id="rId33"/>
    <p:sldId id="283" r:id="rId34"/>
    <p:sldId id="284" r:id="rId35"/>
    <p:sldId id="285" r:id="rId36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3657600" cy="6858000"/>
          </a:xfrm>
          <a:prstGeom prst="rtTriangl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3000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7548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◆  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BÁN HÀNG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754880" y="3200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ĐÃ QUA SỬ DỤNG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754880" y="4206240"/>
            <a:ext cx="6858000" cy="0"/>
          </a:xfrm>
          <a:prstGeom prst="line">
            <a:avLst/>
          </a:prstGeom>
          <a:noFill/>
          <a:ln w="2540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đào tạo nội bộ · Phòng Kinh doanh Xe ĐQSD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4800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5 /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</a:rPr>
              <a:t>1 / 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đào tạo – 6 phần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phần là một viên gạch trong bộ kỹ năng bán hàng xe đã qua sử dụng chuyên nghiệp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960120" cy="1234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8308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4592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&amp; TỔ CHỨC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2423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sự · Chỉ tiêu · Tiêu chuẩn kho xe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48640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55080" y="1783080"/>
            <a:ext cx="960120" cy="1234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55080" y="178308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5236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THỊ TRƯỜNG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52360" y="2423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mạnh-yếu · Lý do KH chọn ĐL chính hãng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48640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3154680"/>
            <a:ext cx="960120" cy="1234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315468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64592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SẢN PHẨM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3794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điểm · Pháp lý · Đăng kiểm · Bảo hiểm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154680"/>
            <a:ext cx="548640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55080" y="3154680"/>
            <a:ext cx="960120" cy="1234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5080" y="315468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45236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&amp; CAM KẾT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52360" y="3794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cơ · Hộp số · 7 cam kết · Xử lý sự cố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548640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48640" y="4526280"/>
            <a:ext cx="960120" cy="1234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452628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645920" y="4709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BÁN HÀNG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45920" y="5166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· Sang tên · Lái thử · Giao xe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4526280"/>
            <a:ext cx="548640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355080" y="4526280"/>
            <a:ext cx="960120" cy="1234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55080" y="452628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452360" y="4709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 NH &amp; TÌNH HUỐNG KHÓ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52360" y="5166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NH · 8 tình huống · Hành động ngay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&amp; TỔ CHỨC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sự · Chỉ tiêu · Tiêu chuẩn kho xe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800600"/>
            <a:ext cx="1371600" cy="0"/>
          </a:xfrm>
          <a:prstGeom prst="line">
            <a:avLst/>
          </a:prstGeom>
          <a:noFill/>
          <a:ln w="3810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lợi ích TVBH có được khi bán xe đã qua sử dụng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đúng lợi ích → Chủ động tìm kiếm khách hàng và cơ hội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TĂNG DATA KHÁCH HÀNG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0756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xe cũ mở rộng tệp KH vượt ra ngoài nhóm mua xe mới – những người cần xe nhưng có ngân sách hạn chế hơn cũng trở thành KH tiềm năng mua xe mới trong tương lai.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10241280" cy="0"/>
          </a:xfrm>
          <a:prstGeom prst="line">
            <a:avLst/>
          </a:prstGeom>
          <a:noFill/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8640" y="2670048"/>
            <a:ext cx="640080" cy="6400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670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6243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TĂNG DOANH SỐ CÔNG 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962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một kênh doanh thu song song với xe mới – TVBH có nhiều sản phẩm hơn để đáp ứng nhu cầu đa dạng, từ đó tăng tỷ lệ chuyển đổi khách thành giao dịch.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371600" y="3493008"/>
            <a:ext cx="10241280" cy="0"/>
          </a:xfrm>
          <a:prstGeom prst="line">
            <a:avLst/>
          </a:prstGeom>
          <a:noFill/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3557016"/>
            <a:ext cx="640080" cy="6400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557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35112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NHẬP TỪ BÁN XE CŨ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84962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 hồng từ mỗi xe cũ bán thành công cộng thêm vào thu nhập – đặc biệt trong những tháng xe mới khan hàng, xe cũ là nguồn thu nhập bổ sung ổn định.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371600" y="4379976"/>
            <a:ext cx="10241280" cy="0"/>
          </a:xfrm>
          <a:prstGeom prst="line">
            <a:avLst/>
          </a:prstGeom>
          <a:noFill/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4443984"/>
            <a:ext cx="640080" cy="6400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4443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43982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NHẬP TỪ THU MUA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7365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khách Trade-in khi mua xe mới không chỉ tạo thêm thu nhập mà còn giúp TVBH chốt deal xe mới dễ hơn – đây là đòn bẩy kép hiệu quả.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71600" y="5266944"/>
            <a:ext cx="10241280" cy="0"/>
          </a:xfrm>
          <a:prstGeom prst="line">
            <a:avLst/>
          </a:prstGeom>
          <a:noFill/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48640" y="5330952"/>
            <a:ext cx="640080" cy="6400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5330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71600" y="52852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THƯƠNG HIỆU CÁ NHÂN 4.0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5623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video xe cũ trên TikTok, YouTube, Facebook thu hút lượng xem lớn và tự nhiên – đây là kênh tìm kiếm KH bền vững nhất hiện nay.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nhân sự bộ phận xe đã qua sử dụng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rõ ràng – mỗi vai trò có nhiệm vụ và trách nhiệm cụ thể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44348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3657600" cy="5029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BÁN HÀNG (TVBH)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Học sản phẩm xe cũ &amp; quy trình bán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807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Tìm kiếm khách hàng tiềm năng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1912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Tư vấn sản phẩm – chốt deal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575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Soạn thảo hợp đồng, hồ sơ vay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959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Đốc thúc khách thanh toán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Hướng dẫn KH ra phòng công chứng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4727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Hoàn tất thủ tục xuất hóa đơn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51114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Cà số khung, số máy, tháo biển số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5495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Hoàn tất đăng ký &amp; bàn giao xe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783080"/>
            <a:ext cx="3657600" cy="44348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343400" y="1783080"/>
            <a:ext cx="3657600" cy="5029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4340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PHẬN THU MUA (4 người)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Thu mua xe đầu vào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80560" y="2807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Đảm bảo hồ sơ pháp lý đầy đủ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80560" y="31912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Hỗ trợ sang tên nhanh chóng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3575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Giải đáp vướng mắc pháp lý cho TVBH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0" y="3959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Nhân sự hỗ trợ ──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Admin: hồ sơ nhập/xuất, tiến độ dọn xe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0560" y="4727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Admin: chụp hình, cập nhật giá bán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80560" y="51114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Admin: gửi soạn công chứng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80560" y="5495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Admin: tổng hợp hồ sơ thu hồi biển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1783080"/>
            <a:ext cx="3657600" cy="44348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138160" y="1783080"/>
            <a:ext cx="3657600" cy="5029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13816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Theo dõi quá trình làm đẹp xe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75320" y="2807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Kiểm tra chất lượng 167 điểm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75320" y="31912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Quản lý xe tồn kho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75320" y="3575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Hỗ trợ chuẩn bị xe trước giao KH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75320" y="3959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Chỉ tiêu ──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7532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Tồn kho sẵn sàng bán: 25–30 xe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75320" y="4727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Chỉ tiêu bán: 40 xe / tháng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75320" y="51114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75320" y="54955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chuẩn chất lượng kho xe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xe phải đạt chuẩn trước khi đưa vào stock bán – không ngoại lệ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3152" cy="7772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7647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ĐIỂM KIỂM TRA KỸ THUẬT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756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xe được kiểm định theo checklist 167 hạng mục: động cơ, hộp số, hệ thống lái, phanh, điện, nội/ngoại thất. Hạng mục không đạt phải sửa chữa hoặc thay thế trước khi nhập kho.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73152" cy="7772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670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VỆ SINH &amp; TÂN TRANG TOÀN DIỆN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962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xe được: đánh bóng thân vỏ · vệ sinh khoang động cơ · vệ sinh nội thất – gầm · thay nhớt &amp; lọc nhớt · thay phụ tùng định kỳ. Xe phải thơm, sạch, bắt mắt khi KH xem.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73152" cy="7772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557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5387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CHUẨN NGOẠI THẤT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84962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trầy móp lớn · sơn đều màu toàn xe · mâm xe không trầy đáng kể · gai lốp đảm bảo an toàn. Đây là ấn tượng đầu tiên – quyết định 70% cảm xúc của khách.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43984"/>
            <a:ext cx="73152" cy="7772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4439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42569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CHUẨN NỘI THẤT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7365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Sạch sẽ, thơm tho, không ẩm mốc · da ghế không nhàu/rách · taplo không nứt nẻ lớn · thảm sàn không bẩn. Nội thất sạch tạo cảm giác xe được chăm sóc tốt.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330952"/>
            <a:ext cx="73152" cy="7772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5330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53126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GIÁ CHÀO BÁN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5623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để giá chào bán cao hơn các đại lý khác và salon – vì chất lượng được đảm bảo, có bảo hành, có cam kết. TVBH cần tự tin giữ giá và truyền đạt giá trị khác biệt cho KH.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THỊ TRƯỜNG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mạnh-yếu · Lý do KH chọn ĐL chính hãng · 5 yếu tố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800600"/>
            <a:ext cx="1371600" cy="0"/>
          </a:xfrm>
          <a:prstGeom prst="line">
            <a:avLst/>
          </a:prstGeom>
          <a:noFill/>
          <a:ln w="3810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điểm mạnh – điểm yếu trên thị trường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đối thủ để định vị đúng – biết mình để tư vấn tự tin hơn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434840"/>
          </a:xfrm>
          <a:prstGeom prst="rect">
            <a:avLst/>
          </a:prstGeom>
          <a:solidFill>
            <a:srgbClr val="E8F5EC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502920"/>
          </a:xfrm>
          <a:prstGeom prst="rect">
            <a:avLst/>
          </a:prstGeom>
          <a:solidFill>
            <a:srgbClr val="1B7F3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83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ĐIỂM MẠNH – MITSUBISHI TÂY NINH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Ủy quyền chính hãng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6791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MMV ủy quyền – nguồn gốc minh bạch, pháp lý rõ ràng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1729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172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&amp; chuyên môn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 đạt chuẩn toàn cầu, KTV chuyên sâu xe Mitsubishi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9227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9227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One-Stop Shopping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178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mua xe, BH, vay NH, BD tại một địa điểm duy nhất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6725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672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&amp; cam kết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49286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12T/20.000km, cam kết bằng văn bản: không đâm đụng, không thủy kích, không tua ODO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5422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5422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 3B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56784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· Bảo vệ giá · Bảo tín – tạo niềm tin vượt trội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783080"/>
            <a:ext cx="5486400" cy="4434840"/>
          </a:xfrm>
          <a:prstGeom prst="rect">
            <a:avLst/>
          </a:prstGeom>
          <a:solidFill>
            <a:srgbClr val="FCEEEE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ĐIỂM YẾU CẦN KHẮC PHỤC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2423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17"/>
                </a:solidFill>
              </a:rPr>
              <a:t>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2423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cao hơn salon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26791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nhạy cảm giá so với salon tư nhân → Cần truyền đạt giá trị: BH, pháp lý, tân trang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337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17"/>
                </a:solidFill>
              </a:rPr>
              <a:t>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xe hạn chế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35935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lượng &amp; chủng loại không phong phú bằng salon lớn → Nắm chắc stock, tư vấn thay thế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4251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17"/>
                </a:solidFill>
              </a:rPr>
              <a:t>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 xe cũ còn hạn chế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9400" y="45079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 quen xe mới → Học sản phẩm, thực hành 21 điểm trên từng xe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5166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17"/>
                </a:solidFill>
              </a:rPr>
              <a:t>■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2940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tục sang tên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223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bước, KH dễ bỏ cuộc → Hỗ trợ toàn diện, hướng dẫn từng bước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khách hàng chọn đại lý chính hãng?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 phải hiểu và truyền đạt được 6 lý do này khi tư vấn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3657600" cy="91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965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TƯỞNG THƯƠNG HIỆU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chính hãng Mitsubishi quy mô lớn, hoạt động lâu năm, uy tín toàn cầu. KH yên tâm khi mua xe nơi có địa chỉ rõ ràng.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576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657600" cy="91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26280" y="1965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YÊN TÂM CHẤT LƯỢNG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8346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được kiểm 167 điểm kỹ thuật, tân trang đúng chuẩn. KH không phải tự đánh giá – đại lý đã làm thay với KTV chuyên nghiệp.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6576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3657600" cy="91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21040" y="1965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2104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MINH BẠCH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28346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gốc xe rõ ràng, lịch sử kiểm tra. Cam kết bằng văn bản. Không sang tên được → thu hồi &amp; hoàn trả tiền toàn bộ.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36576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4069080"/>
            <a:ext cx="3657600" cy="91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4251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CHÍNH HÃNG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1206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12 tháng/20.000km – động cơ &amp; hộp số. KH mua xe cũ vẫn có BH như xe mới: lợi thế tuyệt đối so với salon tư nhân.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4069080"/>
            <a:ext cx="36576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43400" y="4069080"/>
            <a:ext cx="3657600" cy="91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26280" y="4251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26280" y="4709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VỤ TOÀN DIỆN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51206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Xưởng dịch vụ Mitsubishi đầy đủ thiết bị hiện đại, KTV giàu chuyên môn. Sau khi mua, KH có chỗ BD uy tín.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4069080"/>
            <a:ext cx="36576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138160" y="4069080"/>
            <a:ext cx="3657600" cy="914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321040" y="4251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321040" y="4709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 3B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21040" y="51206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(12T/20.000km) · BẢO VỆ GIÁ (thu lại / ký gởi miễn phí) · BẢO TÍN (cam kết không phạt nguội, không thế chấp).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yếu tố khách hàng dùng để quyết định mua xe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 cần chuẩn bị và kiểm soát tốt cả 5 yếu tố này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19456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25880" y="1417320"/>
            <a:ext cx="640080" cy="640080"/>
          </a:xfrm>
          <a:prstGeom prst="ellipse">
            <a:avLst/>
          </a:prstGeom>
          <a:solidFill>
            <a:srgbClr val="E60012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258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3474720"/>
            <a:ext cx="914400" cy="0"/>
          </a:xfrm>
          <a:prstGeom prst="line">
            <a:avLst/>
          </a:prstGeom>
          <a:noFill/>
          <a:ln w="1270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3611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rõ xe KH quan tâm: thông số, phụ kiện, điểm nổi bật. Nhấn mạnh tính năng phù hợp nhu cầu KH cụ thể.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Học thuộc 21 điểm trên mỗi xe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1783080"/>
            <a:ext cx="219456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11880" y="1417320"/>
            <a:ext cx="640080" cy="640080"/>
          </a:xfrm>
          <a:prstGeom prst="ellipse">
            <a:avLst/>
          </a:prstGeom>
          <a:solidFill>
            <a:srgbClr val="C9A961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118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3464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💲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834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BÁN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3474720"/>
            <a:ext cx="91440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71800" y="3611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phụ thuộc: chất lượng, km, màu, option, độ phổ biến. TVBH không tự ý giảm giá – trình bày giá trị để KH cảm nhận giá hợp lý.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718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 sánh giá trị, không so số tiền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20640" y="1783080"/>
            <a:ext cx="219456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F36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897880" y="1417320"/>
            <a:ext cx="640080" cy="640080"/>
          </a:xfrm>
          <a:prstGeom prst="ellipse">
            <a:avLst/>
          </a:prstGeom>
          <a:solidFill>
            <a:srgbClr val="1A1F36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8978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2064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🏢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120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BÁN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60720" y="3474720"/>
            <a:ext cx="914400" cy="0"/>
          </a:xfrm>
          <a:prstGeom prst="line">
            <a:avLst/>
          </a:prstGeom>
          <a:noFill/>
          <a:ln w="12700">
            <a:solidFill>
              <a:srgbClr val="1A1F3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257800" y="3611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chính hãng, showroom rộng, xưởng dịch vụ đầy đủ, BH rõ ràng. Mua tại đây = an toàn, không lo lắng như salon nhỏ.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578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Tự hào về thương hiệu Mitsubishi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06640" y="1783080"/>
            <a:ext cx="219456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F3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183880" y="1417320"/>
            <a:ext cx="640080" cy="640080"/>
          </a:xfrm>
          <a:prstGeom prst="ellipse">
            <a:avLst/>
          </a:prstGeom>
          <a:solidFill>
            <a:srgbClr val="1B7F3A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1838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0664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406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B7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46720" y="3474720"/>
            <a:ext cx="914400" cy="0"/>
          </a:xfrm>
          <a:prstGeom prst="line">
            <a:avLst/>
          </a:prstGeom>
          <a:noFill/>
          <a:ln w="12700">
            <a:solidFill>
              <a:srgbClr val="1B7F3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43800" y="3611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Lời nói + khuôn mặt + kiến thức + tác phong = niềm tin. KH mua người trước, mua xe sau. TVBH là yếu tố con người quyết định.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438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B7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Lịch sự, tự tin, kiến thức vững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692640" y="1783080"/>
            <a:ext cx="219456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C2C2C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469880" y="1417320"/>
            <a:ext cx="640080" cy="640080"/>
          </a:xfrm>
          <a:prstGeom prst="ellipse">
            <a:avLst/>
          </a:prstGeom>
          <a:solidFill>
            <a:srgbClr val="2C2C2C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4698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69264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9692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BÁN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332720" y="3474720"/>
            <a:ext cx="91440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829800" y="3611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BH, BD định kỳ, chính sách quay đầu (thu mua lại). KH cần biết đại lý không 'bán xong bỏ' – cam kết dài hạn là lợi thế.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8298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Trình bày 3B ngay buổi tư vấn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SẢN PHẨM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điểm · Pháp lý · Đăng kiểm · Bảo hiểm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800600"/>
            <a:ext cx="1371600" cy="0"/>
          </a:xfrm>
          <a:prstGeom prst="line">
            <a:avLst/>
          </a:prstGeom>
          <a:noFill/>
          <a:ln w="3810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pháp lý về xe ô tô cũ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 phải nắm để tư vấn tự tin, tránh sai sót nghiêm trọng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874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NGUYÊN TẮC QUAN TRỌNG NHẤT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Tất cả các xe sang tên đều được </a:t>
            </a:r>
            <a:pPr indent="0" marL="0">
              <a:buNone/>
            </a:pPr>
            <a:r>
              <a:rPr lang="en-US" sz="1400" b="1" dirty="0">
                <a:solidFill>
                  <a:srgbClr val="E60012"/>
                </a:solidFill>
              </a:rPr>
              <a:t>CẤP BIỂN SỐ MỚI</a:t>
            </a:r>
            <a:pPr indent="0" marL="0">
              <a:buNone/>
            </a:pPr>
            <a:r>
              <a:rPr lang="en-US" sz="1200" i="1" dirty="0">
                <a:solidFill>
                  <a:srgbClr val="B8BDC4"/>
                </a:solidFill>
              </a:rPr>
              <a:t>  (Ngoại lệ: KH có biển định danh)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486400" cy="3566160"/>
          </a:xfrm>
          <a:prstGeom prst="rect">
            <a:avLst/>
          </a:prstGeom>
          <a:solidFill>
            <a:srgbClr val="F5F7FA"/>
          </a:solidFill>
          <a:ln w="19050">
            <a:solidFill>
              <a:srgbClr val="1A1F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TƯ NHÂN – CÔNG CHỨNG MUA BÁN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37560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319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đầu vào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 ủy quyền – chủ xe ký ủy quyền cho NV thu mua đại lý ký HĐMB tại phòng công chứng và nhận giải ngân từ NH.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4050792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40325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tục bán ra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2793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(người được ủy quyền) ký HĐ mua bán tại VPCC với Bên Mua.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4764024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4764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745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mua cá nhân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9926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CCCD + Xác nhận cư trú.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5477256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5477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5458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mua công 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7058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VAT đầu vào (xe cá nhân không xuất HĐ). Vẫn được khấu hao chi phí nếu thanh toán CK từ TK doanh nghiệp.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2743200"/>
            <a:ext cx="5486400" cy="3566160"/>
          </a:xfrm>
          <a:prstGeom prst="rect">
            <a:avLst/>
          </a:prstGeom>
          <a:solidFill>
            <a:srgbClr val="F5F7FA"/>
          </a:solidFill>
          <a:ln w="1905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5486400" cy="4572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1264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DOANH NGHIỆP – XUẤT HÓA ĐƠN VAT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3337560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6364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3319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đầu vào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3566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bán xuất HĐ VAT cho Đại lý. Đại lý ghi nhận HĐ đầu vào.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4050792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6364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40325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tục bán ra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42793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xuất HĐ VAT cho Bên Mua. Công thức: Giá HĐ đầu vào + Lợi nhuận = Giá HĐ xuất ra.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4764024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263640" y="4764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4745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TVBH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49926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thông báo rõ giá trị xuất HĐ. Tránh KH hiểu nhầm xuất đủ 100% giá xe.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5477256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263640" y="5477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75120" y="5458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chênh lệch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75120" y="57058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Giữa giá bán thực tế và giá xuất HĐ → thu bằng Phiếu hoàn ứng vốn.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điểm TVBH phải nắm vững về mỗi chiếc xe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thông tin xe → không thể tư vấn → mất deal. Học thuộc trước khi gặp khách.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Chủng loại xe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97680" y="178308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97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sản xuất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km đã sử dụng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242316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297680" y="242316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297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hộp số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242316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046720" y="242316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0467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Nhiên liệu &amp; tiêu hao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306324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Màu xe &amp; phong thủy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97680" y="306324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297680" y="306324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2976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3776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kiện đã lắp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46720" y="306324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046720" y="306324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0467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8680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bảo dưỡng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370332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8872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kiểm &amp; phạt nguội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297680" y="370332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297680" y="370332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2976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93776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&amp; tính năng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046720" y="370332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046720" y="370332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0467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68680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 độ bảo hành CPO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48640" y="434340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188720" y="4343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cam kết của đại lý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297680" y="434340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4297680" y="434340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2976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937760" y="4343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sơn zin (%)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046720" y="434340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8046720" y="434340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0467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686800" y="4343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lái thử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48640" y="498348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548640" y="498348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486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188720" y="4983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tục cá nhân/công ty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297680" y="498348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4297680" y="498348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29768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4937760" y="4983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sang tên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8046720" y="498348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8046720" y="498348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04672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8686800" y="4983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 tên &amp; chuyển vùng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548640" y="562356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548640" y="562356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54864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1188720" y="5623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tục mua trả góp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4297680" y="562356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4297680" y="562356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429768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4937760" y="5623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giao xe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8046720" y="5623560"/>
            <a:ext cx="361188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8046720" y="5623560"/>
            <a:ext cx="548640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804672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8686800" y="5623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Chăm sóc sau bán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đăng kiểm &amp; Bảo hiểm xe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hạng mục này ảnh hưởng trực tiếp đến chi phí phát sinh sau khi KH nhận xe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4348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5029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83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GIẤY ĐĂNG KIỂM XE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</a:rPr>
              <a:t>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59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hạn đăng kiểm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trước khi bàn giao. Sắp hết hạn → tư vấn KH chi phí đăng kiểm lại.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</a:rPr>
              <a:t>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bán tải có nắp thùng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3246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KH chi phí cải tạo để hợp lệ khi đăng kiểm.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</a:rPr>
              <a:t>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639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bán tải không nắp thùng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cải tạo tháo bỏ nắp (nếu có lắp thêm) để đạt chuẩn đăng kiểm.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</a:rPr>
              <a:t>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279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vướng cải tạo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4526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số xe độ tính năng không hợp quy → phí hoàn nguyên. Phải kiểm tra &amp; báo trước.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</a:rPr>
              <a:t>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919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âm đường bộ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5166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phí đường bộ – nếu âm thì KH đóng trước khi đăng ký xe.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5577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</a:rPr>
              <a:t>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5559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Biển số mới sau sang tên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5806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xe sang tên đổi chủ đều cấp biển mới (trừ biển định danh).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783080"/>
            <a:ext cx="5486400" cy="443484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solidFill>
            <a:srgbClr val="1B7F3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BẢO HIỂM XE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2377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2359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TNDS bắt buộc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37960" y="2606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xe lưu thông phải có. Tư vấn KH mua mới tại đại lý → tăng doanh thu BH.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31455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tự nguyện (vật chất)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37960" y="33741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song song với TNDS. Xe đã tân trang đẹp → không bị loại trừ tổn thất.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39136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37960" y="3895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thế khi mua tại đại lý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37960" y="41422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được tân trang trước khi mua BHVC → không bị loại trừ tổn thất cũ.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46817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3796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cũ KHÔNG có BHVC khi lái thử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37960" y="49103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xảy ra tổn thất → KH chịu phí. Phải nói rõ trong giấy cam kết lái thử.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54498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3A"/>
                </a:solidFill>
              </a:rPr>
              <a:t>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37960" y="54315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tư vấn BH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37960" y="56784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Chào TNDS · 2) Đề xuất vật chất · 3) Giải thích lợi ích · 4) Chốt khi ký HĐ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&amp; CAM KẾT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cơ · Hộp số · 7 cam kết · Xử lý sự cố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800600"/>
            <a:ext cx="1371600" cy="0"/>
          </a:xfrm>
          <a:prstGeom prst="line">
            <a:avLst/>
          </a:prstGeom>
          <a:noFill/>
          <a:ln w="3810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 độ bảo hành xe đã qua sử dụng – Tổng quan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 phải trình bày đúng và đầy đủ – không nói chung chung 'xe có bảo hành'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828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LÝ DO QUAN TRỌNG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không hài lòng về BH = TVBH chỉ nói chung chung 'xe cũ có bảo hành' mà không giải thích rõ BH gồm những gì → KH mang xe đến sửa, bị từ chối → phàn nàn, mất uy tín.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3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606040"/>
            <a:ext cx="2697480" cy="365760"/>
          </a:xfrm>
          <a:prstGeom prst="rect">
            <a:avLst/>
          </a:prstGeom>
          <a:solidFill>
            <a:srgbClr val="1B7F3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TRONG 10 NĂM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tháng / 20.000 km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566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toàn diện: Động cơ + Hộp số theo điều kiện quy định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260604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31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337560" y="2606040"/>
            <a:ext cx="2697480" cy="3657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3756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TRÊN 10 NĂM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063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tháng / 5.000 km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3566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&amp; quãng đường ngắn hơn – cần thông báo rõ cho KH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260604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F3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126480" y="2606040"/>
            <a:ext cx="2697480" cy="36576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2648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16 CHỖ ≤ 5 NĂM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063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tháng / 12.000 km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3566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riêng cho xe chở khách 16 chỗ trong 5 năm đầu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15400" y="260604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915400" y="2606040"/>
            <a:ext cx="2697480" cy="36576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1540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TẢI VAN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15400" y="3063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BẢO HÀNH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52560" y="3566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tải van không áp dụng CPO – thông báo rõ khi tư vấn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26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XỬ LÝ KHI XE HƯ HỎNG TRONG BẢO HÀNH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2697480" cy="14173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5047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  ·  KH thông báo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5532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liên hệ TVBH/BP Dịch vụ. Nhận đủ thông tin: triệu chứng, km, ngày.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37560" y="4846320"/>
            <a:ext cx="2697480" cy="14173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520440" y="502920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5204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23360" y="5047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  ·  KH đưa xe đến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20440" y="5532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mang xe đến đại lý. KH chịu phí vận chuyển nếu xe không tự chạy.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4846320"/>
            <a:ext cx="2697480" cy="14173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309360" y="502920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30936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12280" y="5047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  ·  KTV xác định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5532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KTV kiểm tra &amp; xác định nguyên nhân. Trong BH → ĐL trả. Ngoài BH → KH trả.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915400" y="4846320"/>
            <a:ext cx="2697480" cy="14173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9098280" y="502920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0982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601200" y="5047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  ·  Thông báo KH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098280" y="5532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 chủ động liên hệ KH thông báo kết quả &amp; giải thích rõ lý do nếu ngoài BH.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động cơ – Chi tiết được &amp; không được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 phải nói đúng từng hạng mục – đừng để KH hiểu nhầm rồi phàn nàn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434840"/>
          </a:xfrm>
          <a:prstGeom prst="rect">
            <a:avLst/>
          </a:prstGeom>
          <a:solidFill>
            <a:srgbClr val="E8F5EC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502920"/>
          </a:xfrm>
          <a:prstGeom prst="rect">
            <a:avLst/>
          </a:prstGeom>
          <a:solidFill>
            <a:srgbClr val="1B7F3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83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CÁC CHI TIẾT ĐƯỢC BẢO HÀNH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Thân động cơ (block cylinder)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Nắp quy lát (cylinder head)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Trục khuỷu (crankshaft)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Piston &amp; xi-lanh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Bạc đầu to – bạc đầu nhỏ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3200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Séc-măng (piston ring)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Trục cam (camshaft)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Xuppap (valve)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Các ổ bi trên động cơ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Sên cam (timing chain/belt)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572000"/>
            <a:ext cx="5029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1B7F3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663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hư hỏng trong vận hành – không phải do tác nhân bên ngoài.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5349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án xử lý: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chữa hoặc thay thế chi tiết hư hỏng bằng phụ tùng chính hãng.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783080"/>
            <a:ext cx="5486400" cy="4434840"/>
          </a:xfrm>
          <a:prstGeom prst="rect">
            <a:avLst/>
          </a:prstGeom>
          <a:solidFill>
            <a:srgbClr val="FCEEEE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CÁC CHI TIẾT KHÔNG BẢO HÀNH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Phớt chặn dầu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354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mòn theo thời gian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Ron nắp máy, ron quy lát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3544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hao – thay định kỳ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Bơm nước, bơm nhớt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354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Lắp ngoài động cơ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Máy đề, máy phát điện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3544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– không thuộc BH cơ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Turbo tăng áp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3544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cách dùng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4297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Hệ thống phun nhiên liệu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23544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biến, injector, bơm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Hệ thống làm mát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3544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nước, ống dẫn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5029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Hệ thống đánh lửa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544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Bugi, cô-bin, dây cao áp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5394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Cảm biến động cơ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35440" y="5394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MAF, O2, nhiệt độ nước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5760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Hộp ECU động cơ, cao su, điều hòa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235440" y="5760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tử &amp; hao mòn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hành hộp số sàn &amp; tự động – Chi tiết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án bảo hành: Đại tu hộp số HOẶC thay thế các chi tiết hư hỏng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F3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3657600" cy="4572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SỐ SÀN (Manual)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BẢO HÀNH: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Bố ly hợp (clutch disc)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Mâm ép (pressure plate)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236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 tê / Heo dầu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529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Phớt đầu và đuôi hộp số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Bánh đà (flywheel)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BẢO HÀNH: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Dầu hộp số (tiêu hao)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4773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Nắp hộp số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65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Cần số – cơ cấu chọn số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1783080"/>
            <a:ext cx="36576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343400" y="1783080"/>
            <a:ext cx="3657600" cy="4572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3434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SỐ TỰ ĐỘNG THỦY LỰC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BẢO HÀNH: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Biến mô (torque converter)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2628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Các lá bố (clutch plates)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26280" y="3236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Các lá ép (steel plates)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26280" y="3529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Mạch dầu (valve body)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2628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Bơm nhớt hộp số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262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Bộ phận giải nhiệt nhớt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26280" y="4498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BẢO HÀNH: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4773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Dầu ATF (tiêu hao)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26280" y="5065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Bộ điều khiển điện tử (TCM)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26280" y="5358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Cảm biến tốc độ hộp số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1783080"/>
            <a:ext cx="36576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138160" y="1783080"/>
            <a:ext cx="3657600" cy="45720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13816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SỐ POWERSHIFT (Dual Clutch)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BẢO HÀNH: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Mô-tơ điều khiển ly hợp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2104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Bố ly hợp (clutch disc)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21040" y="3236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Mâm ép (pressure plate)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21040" y="3621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BẢO HÀNH: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21040" y="3895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Module điều khiển (TCM)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21040" y="4187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Dầu hộp số (tiêu hao)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2104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Cảm biến vị trí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21040" y="4773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Actuator chọn số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Lưu ý: Cần hỏi KH đang dùng loại hộp số nào (Sàn / AT / Powershift) để giải thích đúng chế độ BH áp dụng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cam kết của đại lý &amp; câu hỏi thường gặp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 phải thuộc lòng 7 cam kết này – đây là vũ khí tư vấn mạnh nhất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92024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đâm đụng NẶNG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chạm trực diện trước/sau làm biến dạng khung sườn, hư động cơ/hộp số, cong vênh chassis.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60420" y="17830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97580" y="192024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75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0050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thủy kích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758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không vào vùng ngập nước bị tắt máy &amp; nước xâm nhập động cơ. Không có người cố tình khởi động lại.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17830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09360" y="192024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093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cơ NGUYÊN BẢN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cơ chưa từng tháo ra sửa chữa lớn/đại tu. Chỉ tháo một số chi tiết phục vụ bảo dưỡng – thay thế.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83980" y="17830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21140" y="192024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211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24060" y="1947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167 điểm kỹ thuật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2114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xe qua kiểm định 167 điểm, đánh giá chất lượng, sửa chữa khuyết điểm trước khi nhập kho.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33756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58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3502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rõ ràng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3977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sang tên đổi chủ được. Nếu không sang tên được: thu hồi xe &amp; hoàn trả toàn bộ tiền cho KH.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60420" y="333756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497580" y="347472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9758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00500" y="3502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thế chấp – không phạt nguội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97580" y="3977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trước khi bán, cam kết bằng văn bản, đại lý chịu trách nhiệm pháp lý.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333756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309360" y="3474720"/>
            <a:ext cx="411480" cy="411480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0936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35021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lại / Ký gởi miễn phí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977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 bảo vệ giá: KH có thể ký gởi lại xe tại đại lý miễn phí nếu muốn bán lại.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83980" y="3337560"/>
            <a:ext cx="2697480" cy="14173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12114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CÂU HỎI KH HAY GẶP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21140" y="3794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Xe mấy đời chủ?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Tỷ lệ sơn zin?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Có tua ODO?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Chế độ BH?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Phí sang tên?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88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BÁN HÀNG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· Sang tên · Lái thử · Giao xe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800600"/>
            <a:ext cx="1371600" cy="0"/>
          </a:xfrm>
          <a:prstGeom prst="line">
            <a:avLst/>
          </a:prstGeom>
          <a:noFill/>
          <a:ln w="3810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tổng quát quy trình bán hàng – 6 bước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TVBH cần làm đúng trình tự, không bỏ qua bước nào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28700" y="1920240"/>
            <a:ext cx="731520" cy="731520"/>
          </a:xfrm>
          <a:prstGeom prst="ellipse">
            <a:avLst/>
          </a:prstGeom>
          <a:solidFill>
            <a:srgbClr val="E60012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287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80060" y="2468880"/>
            <a:ext cx="18288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80060" y="2468880"/>
            <a:ext cx="1828800" cy="7315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150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" y="37947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xe: Chợ Tốt, Bonbanh, Facebook, TikTok, YouTube. Khai thác KH mua xe mới.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rot="5400000">
            <a:off x="2308860" y="3794760"/>
            <a:ext cx="137160" cy="274320"/>
          </a:xfrm>
          <a:prstGeom prst="rtTriangle">
            <a:avLst/>
          </a:prstGeom>
          <a:solidFill>
            <a:srgbClr val="B8BDC4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903220" y="1920240"/>
            <a:ext cx="731520" cy="731520"/>
          </a:xfrm>
          <a:prstGeom prst="ellipse">
            <a:avLst/>
          </a:prstGeom>
          <a:solidFill>
            <a:srgbClr val="E60012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032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354580" y="2468880"/>
            <a:ext cx="18288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354580" y="2468880"/>
            <a:ext cx="1828800" cy="7315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4460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4602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CẬN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91740" y="37947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Nghe nhu cầu KH. Giới thiệu xe phù hợp. Trình bày 5 yếu tố. Nêu cam kết &amp; BH.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rot="5400000">
            <a:off x="4183380" y="3794760"/>
            <a:ext cx="137160" cy="274320"/>
          </a:xfrm>
          <a:prstGeom prst="rtTriangle">
            <a:avLst/>
          </a:prstGeom>
          <a:solidFill>
            <a:srgbClr val="B8BDC4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77740" y="1920240"/>
            <a:ext cx="731520" cy="731520"/>
          </a:xfrm>
          <a:prstGeom prst="ellipse">
            <a:avLst/>
          </a:prstGeom>
          <a:solidFill>
            <a:srgbClr val="E60012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777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229100" y="2468880"/>
            <a:ext cx="18288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229100" y="2468880"/>
            <a:ext cx="1828800" cy="7315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32054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2054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LÁI THỬ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66260" y="37947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giấy đề xuất lái thử. KH ký cam kết. Xe cũ KHÔNG có BHVC. Dẫn KH chạy thực tế.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rot="5400000">
            <a:off x="6057900" y="3794760"/>
            <a:ext cx="137160" cy="274320"/>
          </a:xfrm>
          <a:prstGeom prst="rtTriangle">
            <a:avLst/>
          </a:prstGeom>
          <a:solidFill>
            <a:srgbClr val="B8BDC4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652260" y="1920240"/>
            <a:ext cx="731520" cy="731520"/>
          </a:xfrm>
          <a:prstGeom prst="ellipse">
            <a:avLst/>
          </a:prstGeom>
          <a:solidFill>
            <a:srgbClr val="E60012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522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6103620" y="2468880"/>
            <a:ext cx="18288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03620" y="2468880"/>
            <a:ext cx="1828800" cy="7315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19506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506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DEAL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40780" y="37947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Thương lượng giá. Lập HĐ mua bán. Tư vấn vay NH. Xác định ngày thanh toán.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 rot="5400000">
            <a:off x="7932420" y="3794760"/>
            <a:ext cx="137160" cy="274320"/>
          </a:xfrm>
          <a:prstGeom prst="rtTriangle">
            <a:avLst/>
          </a:prstGeom>
          <a:solidFill>
            <a:srgbClr val="B8BDC4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526780" y="1920240"/>
            <a:ext cx="731520" cy="731520"/>
          </a:xfrm>
          <a:prstGeom prst="ellipse">
            <a:avLst/>
          </a:prstGeom>
          <a:solidFill>
            <a:srgbClr val="E60012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5267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7978140" y="2468880"/>
            <a:ext cx="18288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978140" y="2468880"/>
            <a:ext cx="1828800" cy="7315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06958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6958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XE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 TÊN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15300" y="37947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xe hoàn tất. Công chứng / xuất hóa đơn. Sang tên đổi chủ. Bàn giao sổ BH.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 rot="5400000">
            <a:off x="9806940" y="3794760"/>
            <a:ext cx="137160" cy="274320"/>
          </a:xfrm>
          <a:prstGeom prst="rtTriangle">
            <a:avLst/>
          </a:prstGeom>
          <a:solidFill>
            <a:srgbClr val="B8BDC4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401300" y="1920240"/>
            <a:ext cx="731520" cy="731520"/>
          </a:xfrm>
          <a:prstGeom prst="ellipse">
            <a:avLst/>
          </a:prstGeom>
          <a:solidFill>
            <a:srgbClr val="E60012"/>
          </a:solidFill>
          <a:ln w="381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4013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48" name="Shape 46"/>
          <p:cNvSpPr/>
          <p:nvPr/>
        </p:nvSpPr>
        <p:spPr>
          <a:xfrm>
            <a:off x="9852660" y="2468880"/>
            <a:ext cx="182880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852660" y="2468880"/>
            <a:ext cx="1828800" cy="7315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94410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944100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CHĂM SÓC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BÁN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989820" y="37947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3-7-30 ngày. Hỗ trợ BH CPO. Nhắc BD định kỳ. Đề nghị giới thiệu KH mới.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tục thanh toán – Xe công chứng mua bán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cho xe tư nhân không xuất được hóa đơn VAT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5029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7830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đăng ký tư nhân – pháp lý đầu vào là Hợp đồng ủy quyền (chủ xe ủy quyền cho NV thu mua đại lý)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0" cy="3931920"/>
          </a:xfrm>
          <a:prstGeom prst="rect">
            <a:avLst/>
          </a:prstGeom>
          <a:solidFill>
            <a:srgbClr val="F5F7FA"/>
          </a:solidFill>
          <a:ln w="19050">
            <a:solidFill>
              <a:srgbClr val="1A1F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MUA LÀ CÁ NHÂN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54864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2953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tờ cần mang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CCCD + Xác nhận cư trú (thường trú hoặc tạm trú)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3630168"/>
            <a:ext cx="54864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ký HĐ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38587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Admin xe cũ – gửi CCCD KH cho phòng công chứng soạn trước HĐMB. KH ra tới ký ngay.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288536"/>
            <a:ext cx="54864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270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 TT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5171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TRƯỚC khi ký Hợp đồng mua bán tại phòng công chứng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4946904"/>
            <a:ext cx="54864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4928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ký HĐ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51755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(người được ủy quyền) thu tiền hoặc nhận giải ngân từ ngân hàng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5605272"/>
            <a:ext cx="54864" cy="54864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55869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58338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mua xe tư nhân: KHÔNG được xuất hóa đơn VAT. KH chỉ nhận Hợp đồng công chứng.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2423160"/>
            <a:ext cx="5486400" cy="3931920"/>
          </a:xfrm>
          <a:prstGeom prst="rect">
            <a:avLst/>
          </a:prstGeom>
          <a:solidFill>
            <a:srgbClr val="F5F7FA"/>
          </a:solidFill>
          <a:ln w="1905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126480" y="2423160"/>
            <a:ext cx="5486400" cy="4572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12648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MUA LÀ CÔNG TY ĐỨNG TÊN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2971800"/>
            <a:ext cx="54864" cy="71323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2953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công 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200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giá trị xe vào khấu hao thuế TNDN – cần thanh toán chuyển khoản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794760"/>
            <a:ext cx="54864" cy="71323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0" y="3776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 lợi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40233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cá nhân KHÔNG xuất được hóa đơn VAT → không được khấu trừ VAT đầu vào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4617720"/>
            <a:ext cx="54864" cy="71323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00800" y="4599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Thuận lợi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48463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khấu hao chi phí công ty NẾU: (1) HĐ công chứng giữa cá nhân bán &amp; công ty mua; (2) TT chuyển khoản từ TK doanh nghiệp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5440680"/>
            <a:ext cx="54864" cy="713232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00800" y="5422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tờ công ty cần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0" y="5669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TNHH 1TV: GPKD + Mộc dấu + CMND chủ DN. TNHH 2TV/CP: + Biên bản họp thành viên (ghi rõ xe, giá, ủy quyền ký)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xuất hóa đơn VAT – Phương thức thanh toán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cho xe Doanh nghiệp – Đại lý xuất hóa đơn VAT cho Bên Mua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THỨC: Giá HĐ đầu vào  +  Lợi nhuận  =  Giá HĐ xuất 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THỰC TẾ – PHƯƠNG THỨC THU TIỀN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486400" cy="187452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MUA VÀO TỪ DN 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giá mua vào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0" y="3200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800,000,000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529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đầu vào (1)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200,000,000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858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chuyển khoản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3858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200,000,000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87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tiền mặt (ứng vốn)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4187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600,000,000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5486400" cy="187452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5486400" cy="365760"/>
          </a:xfrm>
          <a:prstGeom prst="rect">
            <a:avLst/>
          </a:prstGeom>
          <a:solidFill>
            <a:srgbClr val="1B7F3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264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BÁN RA CHO KHÁCH 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xe bán 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84080" y="3200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850,000,000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529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(2)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84080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50,000,000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858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xuất ra (1)+(2)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84080" y="3858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250,000,000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187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hoàn ứng vốn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0" y="4187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600,000,000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800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KHẤU HAO GIÁ TRỊ XE  ·  Lệ phí trước bạ = 2% × Giá trị khấu hao còn lại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2148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48640" y="5120640"/>
            <a:ext cx="2148840" cy="2743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48640" y="5120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1 năm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788920" y="5120640"/>
            <a:ext cx="2148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788920" y="5120640"/>
            <a:ext cx="2148840" cy="2743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788920" y="5120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 năm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8892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5029200" y="5120640"/>
            <a:ext cx="2148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029200" y="5120640"/>
            <a:ext cx="2148840" cy="2743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9200" y="5120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 năm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7269480" y="5120640"/>
            <a:ext cx="2148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269480" y="5120640"/>
            <a:ext cx="2148840" cy="2743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269480" y="5120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10 năm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6948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9509760" y="5120640"/>
            <a:ext cx="21488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B8BDC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509760" y="5120640"/>
            <a:ext cx="2148840" cy="27432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509760" y="5120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10 năm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50976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548640" y="612648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Ranger XLS AT 2017, giá áp thuế 650tr, dùng 6 năm (50%) → 650tr × 50% × 2% = 6.500.000 VNĐ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sang tên đổi chủ – Đầy đủ theo từng trường hợp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bất kỳ giấy tờ nào có thể làm chậm sang tên – kiểm tra trước khi tư vấn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434840"/>
          </a:xfrm>
          <a:prstGeom prst="rect">
            <a:avLst/>
          </a:prstGeom>
          <a:solidFill>
            <a:srgbClr val="F5F7FA"/>
          </a:solidFill>
          <a:ln w="19050">
            <a:solidFill>
              <a:srgbClr val="1A1F3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XE CÔNG CHỨNG MUA BÁN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đăng ký xe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chính – mã số khung, số máy phải khớp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907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đăng kiểm xe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hiệu lực – kiểm tra hạn trước khi bán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456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 ủy quyền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tại phòng công chứng giữa chủ xe và đại lý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005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 mua bán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9728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tại phòng công chứng giữa người được UQ và KH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553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cước công dân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97280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chính của Bên Mua – cá nhân hoặc đại diện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5102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nhận thu hồi biển số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97280" y="5349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thu biển, nộp lên cơ quan để cấp biển mới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5669280"/>
            <a:ext cx="292608" cy="292608"/>
          </a:xfrm>
          <a:prstGeom prst="ellipse">
            <a:avLst/>
          </a:prstGeom>
          <a:solidFill>
            <a:srgbClr val="1A1F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31520" y="5669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5650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cư trú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97280" y="5897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khi mua cá nhân – thường trú hoặc tạm trú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1783080"/>
            <a:ext cx="5486400" cy="4434840"/>
          </a:xfrm>
          <a:prstGeom prst="rect">
            <a:avLst/>
          </a:prstGeom>
          <a:solidFill>
            <a:srgbClr val="F5F7FA"/>
          </a:solidFill>
          <a:ln w="19050">
            <a:solidFill>
              <a:srgbClr val="E6001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126480" y="1783080"/>
            <a:ext cx="5486400" cy="45720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12648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XE XUẤT HÓA ĐƠN VAT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09360" y="2377440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30936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2359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đăng ký xe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7512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chính – mã số khung, số máy phải khớp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2926080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30936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75120" y="2907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đăng kiểm xe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7512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 hiệu lực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3474720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30936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3456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nối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67512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HĐ Cty bán → đại lý: hóa đơn đầu vào, sao y công chứng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4023360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30936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75120" y="4005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đại lý xuất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67512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ĐL → KH: bản chính + sao 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09360" y="4572000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30936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675120" y="4553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phép đăng ký KD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675120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công chứng của Bên Mua (công ty)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09360" y="5120640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3093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675120" y="5102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cổ đông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675120" y="5349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– áp dụng cho công ty cổ phần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09360" y="5669280"/>
            <a:ext cx="292608" cy="292608"/>
          </a:xfrm>
          <a:prstGeom prst="ellipse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309360" y="5669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675120" y="5650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nhận thu hồi biển số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675120" y="5897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thu biển, nộp lên cơ quan để cấp biển mới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RedBar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02" name="PhanLbl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</a:t>
            </a:r>
          </a:p>
        </p:txBody>
      </p:sp>
      <p:sp>
        <p:nvSpPr>
          <p:cNvPr id="103" name="Title"/>
          <p:cNvSpPr/>
          <p:nvPr/>
        </p:nvSpPr>
        <p:spPr>
          <a:xfrm>
            <a:off x="548640" y="580000"/>
            <a:ext cx="109728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8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lái thử xe</a:t>
            </a:r>
          </a:p>
        </p:txBody>
      </p:sp>
      <p:sp>
        <p:nvSpPr>
          <p:cNvPr id="104" name="Sub"/>
          <p:cNvSpPr/>
          <p:nvPr/>
        </p:nvSpPr>
        <p:spPr>
          <a:xfrm>
            <a:off x="548640" y="1200000"/>
            <a:ext cx="109728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KH trải nghiệm trực tiếp – lái thử đúng cách tăng tỷ lệ chốt deal</a:t>
            </a:r>
          </a:p>
        </p:txBody>
      </p:sp>
      <p:sp>
        <p:nvSpPr>
          <p:cNvPr id="105" name="AccLine"/>
          <p:cNvSpPr/>
          <p:nvPr/>
        </p:nvSpPr>
        <p:spPr>
          <a:xfrm>
            <a:off x="548640" y="1520000"/>
            <a:ext cx="10972800" cy="18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106" name="CardBg"/>
          <p:cNvSpPr/>
          <p:nvPr/>
        </p:nvSpPr>
        <p:spPr>
          <a:xfrm>
            <a:off x="300000" y="1610000"/>
            <a:ext cx="2174400" cy="456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07" name="CardHdr"/>
          <p:cNvSpPr/>
          <p:nvPr/>
        </p:nvSpPr>
        <p:spPr>
          <a:xfrm>
            <a:off x="300000" y="1610000"/>
            <a:ext cx="2174400" cy="4600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08" name="Cir"/>
          <p:cNvSpPr/>
          <p:nvPr/>
        </p:nvSpPr>
        <p:spPr>
          <a:xfrm>
            <a:off x="400000" y="167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9" name="CirN"/>
          <p:cNvSpPr/>
          <p:nvPr/>
        </p:nvSpPr>
        <p:spPr>
          <a:xfrm>
            <a:off x="400000" y="167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10" name="HdrTxt"/>
          <p:cNvSpPr/>
          <p:nvPr/>
        </p:nvSpPr>
        <p:spPr>
          <a:xfrm>
            <a:off x="820000" y="1610000"/>
            <a:ext cx="16144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
THỜI ĐIỂM</a:t>
            </a:r>
          </a:p>
        </p:txBody>
      </p:sp>
      <p:sp>
        <p:nvSpPr>
          <p:cNvPr id="111" name="Desc"/>
          <p:cNvSpPr/>
          <p:nvPr/>
        </p:nvSpPr>
        <p:spPr>
          <a:xfrm>
            <a:off x="380000" y="2110000"/>
            <a:ext cx="2014400" cy="40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đã xem xe và thích – muốn lái thử để quyết định cuối. Không cho lái thử quá sớm khi KH chưa có hứng thú rõ ràng.</a:t>
            </a:r>
          </a:p>
        </p:txBody>
      </p:sp>
      <p:sp>
        <p:nvSpPr>
          <p:cNvPr id="112" name="Arrow"/>
          <p:cNvSpPr/>
          <p:nvPr/>
        </p:nvSpPr>
        <p:spPr>
          <a:xfrm>
            <a:off x="2454400" y="3780000"/>
            <a:ext cx="220000" cy="220000"/>
          </a:xfrm>
          <a:prstGeom prst="rightArrow">
            <a:avLst/>
          </a:prstGeom>
          <a:solidFill>
            <a:srgbClr val="B8BDC4"/>
          </a:solidFill>
          <a:ln>
            <a:noFill/>
          </a:ln>
        </p:spPr>
      </p:sp>
      <p:sp>
        <p:nvSpPr>
          <p:cNvPr id="113" name="CardBg"/>
          <p:cNvSpPr/>
          <p:nvPr/>
        </p:nvSpPr>
        <p:spPr>
          <a:xfrm>
            <a:off x="2654400" y="1610000"/>
            <a:ext cx="2174400" cy="456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14" name="CardHdr"/>
          <p:cNvSpPr/>
          <p:nvPr/>
        </p:nvSpPr>
        <p:spPr>
          <a:xfrm>
            <a:off x="2654400" y="1610000"/>
            <a:ext cx="2174400" cy="4600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115" name="Cir"/>
          <p:cNvSpPr/>
          <p:nvPr/>
        </p:nvSpPr>
        <p:spPr>
          <a:xfrm>
            <a:off x="2754400" y="167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" name="CirN"/>
          <p:cNvSpPr/>
          <p:nvPr/>
        </p:nvSpPr>
        <p:spPr>
          <a:xfrm>
            <a:off x="2754400" y="167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7" name="HdrTxt"/>
          <p:cNvSpPr/>
          <p:nvPr/>
        </p:nvSpPr>
        <p:spPr>
          <a:xfrm>
            <a:off x="3174400" y="1610000"/>
            <a:ext cx="16144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GIẤY
ĐỀ XUẤT</a:t>
            </a:r>
          </a:p>
        </p:txBody>
      </p:sp>
      <p:sp>
        <p:nvSpPr>
          <p:cNvPr id="118" name="Desc"/>
          <p:cNvSpPr/>
          <p:nvPr/>
        </p:nvSpPr>
        <p:spPr>
          <a:xfrm>
            <a:off x="2734400" y="2110000"/>
            <a:ext cx="2014400" cy="40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đầy đủ thông tin xe và thông tin KH vào form nội bộ. Liên hệ admin xe cũ để xử lý thủ tục trước.</a:t>
            </a:r>
          </a:p>
        </p:txBody>
      </p:sp>
      <p:sp>
        <p:nvSpPr>
          <p:cNvPr id="119" name="Arrow"/>
          <p:cNvSpPr/>
          <p:nvPr/>
        </p:nvSpPr>
        <p:spPr>
          <a:xfrm>
            <a:off x="4808800" y="3780000"/>
            <a:ext cx="220000" cy="220000"/>
          </a:xfrm>
          <a:prstGeom prst="rightArrow">
            <a:avLst/>
          </a:prstGeom>
          <a:solidFill>
            <a:srgbClr val="B8BDC4"/>
          </a:solidFill>
          <a:ln>
            <a:noFill/>
          </a:ln>
        </p:spPr>
      </p:sp>
      <p:sp>
        <p:nvSpPr>
          <p:cNvPr id="120" name="CardBg"/>
          <p:cNvSpPr/>
          <p:nvPr/>
        </p:nvSpPr>
        <p:spPr>
          <a:xfrm>
            <a:off x="5008800" y="1610000"/>
            <a:ext cx="2174400" cy="456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21" name="CardHdr"/>
          <p:cNvSpPr/>
          <p:nvPr/>
        </p:nvSpPr>
        <p:spPr>
          <a:xfrm>
            <a:off x="5008800" y="1610000"/>
            <a:ext cx="2174400" cy="4600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22" name="Cir"/>
          <p:cNvSpPr/>
          <p:nvPr/>
        </p:nvSpPr>
        <p:spPr>
          <a:xfrm>
            <a:off x="5108800" y="167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3" name="CirN"/>
          <p:cNvSpPr/>
          <p:nvPr/>
        </p:nvSpPr>
        <p:spPr>
          <a:xfrm>
            <a:off x="5108800" y="167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24" name="HdrTxt"/>
          <p:cNvSpPr/>
          <p:nvPr/>
        </p:nvSpPr>
        <p:spPr>
          <a:xfrm>
            <a:off x="5528800" y="1610000"/>
            <a:ext cx="16144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KÝ
CAM KẾT</a:t>
            </a:r>
          </a:p>
        </p:txBody>
      </p:sp>
      <p:sp>
        <p:nvSpPr>
          <p:cNvPr id="125" name="Desc"/>
          <p:cNvSpPr/>
          <p:nvPr/>
        </p:nvSpPr>
        <p:spPr>
          <a:xfrm>
            <a:off x="5088800" y="2110000"/>
            <a:ext cx="2014400" cy="40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ký giấy yêu cầu chạy thử. ⚠ LƯU Ý: xe cũ KHÔNG có bảo hiểm vật chất – tổn thất trong lái thử KH chịu.</a:t>
            </a:r>
          </a:p>
        </p:txBody>
      </p:sp>
      <p:sp>
        <p:nvSpPr>
          <p:cNvPr id="126" name="Arrow"/>
          <p:cNvSpPr/>
          <p:nvPr/>
        </p:nvSpPr>
        <p:spPr>
          <a:xfrm>
            <a:off x="7163200" y="3780000"/>
            <a:ext cx="220000" cy="220000"/>
          </a:xfrm>
          <a:prstGeom prst="rightArrow">
            <a:avLst/>
          </a:prstGeom>
          <a:solidFill>
            <a:srgbClr val="B8BDC4"/>
          </a:solidFill>
          <a:ln>
            <a:noFill/>
          </a:ln>
        </p:spPr>
      </p:sp>
      <p:sp>
        <p:nvSpPr>
          <p:cNvPr id="127" name="CardBg"/>
          <p:cNvSpPr/>
          <p:nvPr/>
        </p:nvSpPr>
        <p:spPr>
          <a:xfrm>
            <a:off x="7363200" y="1610000"/>
            <a:ext cx="2174400" cy="456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28" name="CardHdr"/>
          <p:cNvSpPr/>
          <p:nvPr/>
        </p:nvSpPr>
        <p:spPr>
          <a:xfrm>
            <a:off x="7363200" y="1610000"/>
            <a:ext cx="2174400" cy="4600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129" name="Cir"/>
          <p:cNvSpPr/>
          <p:nvPr/>
        </p:nvSpPr>
        <p:spPr>
          <a:xfrm>
            <a:off x="7463200" y="167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0" name="CirN"/>
          <p:cNvSpPr/>
          <p:nvPr/>
        </p:nvSpPr>
        <p:spPr>
          <a:xfrm>
            <a:off x="7463200" y="167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31" name="HdrTxt"/>
          <p:cNvSpPr/>
          <p:nvPr/>
        </p:nvSpPr>
        <p:spPr>
          <a:xfrm>
            <a:off x="7883200" y="1610000"/>
            <a:ext cx="16144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DẪN KH
TRẢI NGHIỆM</a:t>
            </a:r>
          </a:p>
        </p:txBody>
      </p:sp>
      <p:sp>
        <p:nvSpPr>
          <p:cNvPr id="132" name="Desc"/>
          <p:cNvSpPr/>
          <p:nvPr/>
        </p:nvSpPr>
        <p:spPr>
          <a:xfrm>
            <a:off x="7443200" y="2110000"/>
            <a:ext cx="2014400" cy="40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đường thực tế. Giới thiệu: hệ thống âm thanh, điều hòa, cảm giác lái, phanh, khả năng tăng tốc.</a:t>
            </a:r>
          </a:p>
        </p:txBody>
      </p:sp>
      <p:sp>
        <p:nvSpPr>
          <p:cNvPr id="133" name="Arrow"/>
          <p:cNvSpPr/>
          <p:nvPr/>
        </p:nvSpPr>
        <p:spPr>
          <a:xfrm>
            <a:off x="9517600" y="3780000"/>
            <a:ext cx="220000" cy="220000"/>
          </a:xfrm>
          <a:prstGeom prst="rightArrow">
            <a:avLst/>
          </a:prstGeom>
          <a:solidFill>
            <a:srgbClr val="B8BDC4"/>
          </a:solidFill>
          <a:ln>
            <a:noFill/>
          </a:ln>
        </p:spPr>
      </p:sp>
      <p:sp>
        <p:nvSpPr>
          <p:cNvPr id="134" name="CardBg"/>
          <p:cNvSpPr/>
          <p:nvPr/>
        </p:nvSpPr>
        <p:spPr>
          <a:xfrm>
            <a:off x="9717600" y="1610000"/>
            <a:ext cx="2174400" cy="456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35" name="CardHdr"/>
          <p:cNvSpPr/>
          <p:nvPr/>
        </p:nvSpPr>
        <p:spPr>
          <a:xfrm>
            <a:off x="9717600" y="1610000"/>
            <a:ext cx="2174400" cy="4600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36" name="Cir"/>
          <p:cNvSpPr/>
          <p:nvPr/>
        </p:nvSpPr>
        <p:spPr>
          <a:xfrm>
            <a:off x="9817600" y="167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7" name="CirN"/>
          <p:cNvSpPr/>
          <p:nvPr/>
        </p:nvSpPr>
        <p:spPr>
          <a:xfrm>
            <a:off x="9817600" y="167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138" name="HdrTxt"/>
          <p:cNvSpPr/>
          <p:nvPr/>
        </p:nvSpPr>
        <p:spPr>
          <a:xfrm>
            <a:off x="10237600" y="1610000"/>
            <a:ext cx="16144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
&amp; CHỐT DEAL</a:t>
            </a:r>
          </a:p>
        </p:txBody>
      </p:sp>
      <p:sp>
        <p:nvSpPr>
          <p:cNvPr id="139" name="Desc"/>
          <p:cNvSpPr/>
          <p:nvPr/>
        </p:nvSpPr>
        <p:spPr>
          <a:xfrm>
            <a:off x="9797600" y="2110000"/>
            <a:ext cx="2014400" cy="40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cảm nhận ngay sau khi lái. Giải đáp thắc mắc. Đề nghị ký hợp đồng – xác định ngày &amp; giờ thanh toán.</a:t>
            </a:r>
          </a:p>
        </p:txBody>
      </p:sp>
      <p:sp>
        <p:nvSpPr>
          <p:cNvPr id="140" name="FBar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41" name="FTx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</a:p>
        </p:txBody>
      </p:sp>
      <p:sp>
        <p:nvSpPr>
          <p:cNvPr id="142" name="FPg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vi-VN" sz="1000" b="0" i="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3" name="RedBar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44" name="PhanLbl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</a:t>
            </a:r>
          </a:p>
        </p:txBody>
      </p:sp>
      <p:sp>
        <p:nvSpPr>
          <p:cNvPr id="145" name="Title"/>
          <p:cNvSpPr/>
          <p:nvPr/>
        </p:nvSpPr>
        <p:spPr>
          <a:xfrm>
            <a:off x="548640" y="580000"/>
            <a:ext cx="109728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8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bàn giao xe cho khách hàng</a:t>
            </a:r>
          </a:p>
        </p:txBody>
      </p:sp>
      <p:sp>
        <p:nvSpPr>
          <p:cNvPr id="146" name="Sub"/>
          <p:cNvSpPr/>
          <p:nvPr/>
        </p:nvSpPr>
        <p:spPr>
          <a:xfrm>
            <a:off x="548640" y="1200000"/>
            <a:ext cx="109728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xe chuyên nghiệp – ấn tượng cuối cùng tạo KH giới thiệu thêm</a:t>
            </a:r>
          </a:p>
        </p:txBody>
      </p:sp>
      <p:sp>
        <p:nvSpPr>
          <p:cNvPr id="147" name="AccLine"/>
          <p:cNvSpPr/>
          <p:nvPr/>
        </p:nvSpPr>
        <p:spPr>
          <a:xfrm>
            <a:off x="548640" y="1520000"/>
            <a:ext cx="10972800" cy="18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148" name="CardBg"/>
          <p:cNvSpPr/>
          <p:nvPr/>
        </p:nvSpPr>
        <p:spPr>
          <a:xfrm>
            <a:off x="300000" y="1630000"/>
            <a:ext cx="3784000" cy="238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49" name="CardHdr"/>
          <p:cNvSpPr/>
          <p:nvPr/>
        </p:nvSpPr>
        <p:spPr>
          <a:xfrm>
            <a:off x="300000" y="1630000"/>
            <a:ext cx="3784000" cy="4600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150" name="Cir"/>
          <p:cNvSpPr/>
          <p:nvPr/>
        </p:nvSpPr>
        <p:spPr>
          <a:xfrm>
            <a:off x="400000" y="169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1" name="CirN"/>
          <p:cNvSpPr/>
          <p:nvPr/>
        </p:nvSpPr>
        <p:spPr>
          <a:xfrm>
            <a:off x="400000" y="169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52" name="HdrTxt"/>
          <p:cNvSpPr/>
          <p:nvPr/>
        </p:nvSpPr>
        <p:spPr>
          <a:xfrm>
            <a:off x="820000" y="1630000"/>
            <a:ext cx="3224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
THANH TOÁN</a:t>
            </a:r>
          </a:p>
        </p:txBody>
      </p:sp>
      <p:sp>
        <p:nvSpPr>
          <p:cNvPr id="153" name="Desc"/>
          <p:cNvSpPr/>
          <p:nvPr/>
        </p:nvSpPr>
        <p:spPr>
          <a:xfrm>
            <a:off x="380000" y="2130000"/>
            <a:ext cx="3624000" cy="18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KH đã TT đầy đủ. Nếu vay NH, chờ xác nhận giải ngân trước khi chuẩn bị xe bàn giao.</a:t>
            </a:r>
          </a:p>
        </p:txBody>
      </p:sp>
      <p:sp>
        <p:nvSpPr>
          <p:cNvPr id="154" name="CardBg"/>
          <p:cNvSpPr/>
          <p:nvPr/>
        </p:nvSpPr>
        <p:spPr>
          <a:xfrm>
            <a:off x="4204000" y="1630000"/>
            <a:ext cx="3784000" cy="238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55" name="CardHdr"/>
          <p:cNvSpPr/>
          <p:nvPr/>
        </p:nvSpPr>
        <p:spPr>
          <a:xfrm>
            <a:off x="4204000" y="1630000"/>
            <a:ext cx="3784000" cy="4600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56" name="Cir"/>
          <p:cNvSpPr/>
          <p:nvPr/>
        </p:nvSpPr>
        <p:spPr>
          <a:xfrm>
            <a:off x="4304000" y="169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7" name="CirN"/>
          <p:cNvSpPr/>
          <p:nvPr/>
        </p:nvSpPr>
        <p:spPr>
          <a:xfrm>
            <a:off x="4304000" y="169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58" name="HdrTxt"/>
          <p:cNvSpPr/>
          <p:nvPr/>
        </p:nvSpPr>
        <p:spPr>
          <a:xfrm>
            <a:off x="4724000" y="1630000"/>
            <a:ext cx="3224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
GIAO XE</a:t>
            </a:r>
          </a:p>
        </p:txBody>
      </p:sp>
      <p:sp>
        <p:nvSpPr>
          <p:cNvPr id="159" name="Desc"/>
          <p:cNvSpPr/>
          <p:nvPr/>
        </p:nvSpPr>
        <p:spPr>
          <a:xfrm>
            <a:off x="4284000" y="2130000"/>
            <a:ext cx="3624000" cy="18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nhất ngày &amp; giờ giao xe cụ thể. Đảm bảo xe đã hoàn tất mọi yêu cầu và phụ kiện.</a:t>
            </a:r>
          </a:p>
        </p:txBody>
      </p:sp>
      <p:sp>
        <p:nvSpPr>
          <p:cNvPr id="160" name="CardBg"/>
          <p:cNvSpPr/>
          <p:nvPr/>
        </p:nvSpPr>
        <p:spPr>
          <a:xfrm>
            <a:off x="8108000" y="1630000"/>
            <a:ext cx="3784000" cy="238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61" name="CardHdr"/>
          <p:cNvSpPr/>
          <p:nvPr/>
        </p:nvSpPr>
        <p:spPr>
          <a:xfrm>
            <a:off x="8108000" y="1630000"/>
            <a:ext cx="3784000" cy="4600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162" name="Cir"/>
          <p:cNvSpPr/>
          <p:nvPr/>
        </p:nvSpPr>
        <p:spPr>
          <a:xfrm>
            <a:off x="8208000" y="169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3" name="CirN"/>
          <p:cNvSpPr/>
          <p:nvPr/>
        </p:nvSpPr>
        <p:spPr>
          <a:xfrm>
            <a:off x="8208000" y="169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64" name="HdrTxt"/>
          <p:cNvSpPr/>
          <p:nvPr/>
        </p:nvSpPr>
        <p:spPr>
          <a:xfrm>
            <a:off x="8628000" y="1630000"/>
            <a:ext cx="3224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XE</a:t>
            </a:r>
          </a:p>
        </p:txBody>
      </p:sp>
      <p:sp>
        <p:nvSpPr>
          <p:cNvPr id="165" name="Desc"/>
          <p:cNvSpPr/>
          <p:nvPr/>
        </p:nvSpPr>
        <p:spPr>
          <a:xfrm>
            <a:off x="8188000" y="2130000"/>
            <a:ext cx="3624000" cy="18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xe đạt chuẩn. Thay nhớt &amp; lọc nhớt mới. Ghi mốc nhắc BD 5.000–10.000 km tiếp theo.</a:t>
            </a:r>
          </a:p>
        </p:txBody>
      </p:sp>
      <p:sp>
        <p:nvSpPr>
          <p:cNvPr id="166" name="CardBg"/>
          <p:cNvSpPr/>
          <p:nvPr/>
        </p:nvSpPr>
        <p:spPr>
          <a:xfrm>
            <a:off x="300000" y="4180000"/>
            <a:ext cx="3784000" cy="238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67" name="CardHdr"/>
          <p:cNvSpPr/>
          <p:nvPr/>
        </p:nvSpPr>
        <p:spPr>
          <a:xfrm>
            <a:off x="300000" y="4180000"/>
            <a:ext cx="3784000" cy="4600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168" name="Cir"/>
          <p:cNvSpPr/>
          <p:nvPr/>
        </p:nvSpPr>
        <p:spPr>
          <a:xfrm>
            <a:off x="400000" y="424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9" name="CirN"/>
          <p:cNvSpPr/>
          <p:nvPr/>
        </p:nvSpPr>
        <p:spPr>
          <a:xfrm>
            <a:off x="400000" y="424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70" name="HdrTxt"/>
          <p:cNvSpPr/>
          <p:nvPr/>
        </p:nvSpPr>
        <p:spPr>
          <a:xfrm>
            <a:off x="820000" y="4180000"/>
            <a:ext cx="3224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TỤC
RA CỔNG</a:t>
            </a:r>
          </a:p>
        </p:txBody>
      </p:sp>
      <p:sp>
        <p:nvSpPr>
          <p:cNvPr id="171" name="Desc"/>
          <p:cNvSpPr/>
          <p:nvPr/>
        </p:nvSpPr>
        <p:spPr>
          <a:xfrm>
            <a:off x="380000" y="4680000"/>
            <a:ext cx="3624000" cy="18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quyết toán sổ sách, ký phiếu ra cổng. Cà số khung – số máy. Tháo biển số cũ.</a:t>
            </a:r>
          </a:p>
        </p:txBody>
      </p:sp>
      <p:sp>
        <p:nvSpPr>
          <p:cNvPr id="172" name="CardBg"/>
          <p:cNvSpPr/>
          <p:nvPr/>
        </p:nvSpPr>
        <p:spPr>
          <a:xfrm>
            <a:off x="4204000" y="4180000"/>
            <a:ext cx="3784000" cy="238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73" name="CardHdr"/>
          <p:cNvSpPr/>
          <p:nvPr/>
        </p:nvSpPr>
        <p:spPr>
          <a:xfrm>
            <a:off x="4204000" y="4180000"/>
            <a:ext cx="3784000" cy="4600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74" name="Cir"/>
          <p:cNvSpPr/>
          <p:nvPr/>
        </p:nvSpPr>
        <p:spPr>
          <a:xfrm>
            <a:off x="4304000" y="424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5" name="CirN"/>
          <p:cNvSpPr/>
          <p:nvPr/>
        </p:nvSpPr>
        <p:spPr>
          <a:xfrm>
            <a:off x="4304000" y="424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176" name="HdrTxt"/>
          <p:cNvSpPr/>
          <p:nvPr/>
        </p:nvSpPr>
        <p:spPr>
          <a:xfrm>
            <a:off x="4724000" y="4180000"/>
            <a:ext cx="3224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 &amp;
HƯỚNG DẪN</a:t>
            </a:r>
          </a:p>
        </p:txBody>
      </p:sp>
      <p:sp>
        <p:nvSpPr>
          <p:cNvPr id="177" name="Desc"/>
          <p:cNvSpPr/>
          <p:nvPr/>
        </p:nvSpPr>
        <p:spPr>
          <a:xfrm>
            <a:off x="4284000" y="4680000"/>
            <a:ext cx="3624000" cy="18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sổ BH CPO, giấy tờ đầy đủ. Hướng dẫn KH tính năng xe. Nhắc lịch bảo dưỡng định kỳ.</a:t>
            </a:r>
          </a:p>
        </p:txBody>
      </p:sp>
      <p:sp>
        <p:nvSpPr>
          <p:cNvPr id="178" name="CardBg"/>
          <p:cNvSpPr/>
          <p:nvPr/>
        </p:nvSpPr>
        <p:spPr>
          <a:xfrm>
            <a:off x="8108000" y="4180000"/>
            <a:ext cx="3784000" cy="238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179" name="CardHdr"/>
          <p:cNvSpPr/>
          <p:nvPr/>
        </p:nvSpPr>
        <p:spPr>
          <a:xfrm>
            <a:off x="8108000" y="4180000"/>
            <a:ext cx="3784000" cy="4600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180" name="Cir"/>
          <p:cNvSpPr/>
          <p:nvPr/>
        </p:nvSpPr>
        <p:spPr>
          <a:xfrm>
            <a:off x="8208000" y="4240000"/>
            <a:ext cx="340000" cy="3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1" name="CirN"/>
          <p:cNvSpPr/>
          <p:nvPr/>
        </p:nvSpPr>
        <p:spPr>
          <a:xfrm>
            <a:off x="8208000" y="4240000"/>
            <a:ext cx="3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6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182" name="HdrTxt"/>
          <p:cNvSpPr/>
          <p:nvPr/>
        </p:nvSpPr>
        <p:spPr>
          <a:xfrm>
            <a:off x="8628000" y="4180000"/>
            <a:ext cx="3224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5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HỒ SƠ
NỘI BỘ</a:t>
            </a:r>
          </a:p>
        </p:txBody>
      </p:sp>
      <p:sp>
        <p:nvSpPr>
          <p:cNvPr id="183" name="Desc"/>
          <p:cNvSpPr/>
          <p:nvPr/>
        </p:nvSpPr>
        <p:spPr>
          <a:xfrm>
            <a:off x="8188000" y="4680000"/>
            <a:ext cx="3624000" cy="18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lưu: Biên bản bàn giao + phiếu đề xuất + HĐ mua bán. Phòng xe cũ lưu bản photo.</a:t>
            </a:r>
          </a:p>
        </p:txBody>
      </p:sp>
      <p:sp>
        <p:nvSpPr>
          <p:cNvPr id="184" name="FBar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85" name="FTx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</a:p>
        </p:txBody>
      </p:sp>
      <p:sp>
        <p:nvSpPr>
          <p:cNvPr id="186" name="FPg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vi-VN" sz="1000" b="0" i="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/>
      <p:sp>
        <p:nvSpPr>
          <p:cNvPr id="187" name="RedBar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88" name="PhanLbl"/>
          <p:cNvSpPr/>
          <p:nvPr/>
        </p:nvSpPr>
        <p:spPr>
          <a:xfrm>
            <a:off x="914400" y="2100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600" b="1" i="0" spc="80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06</a:t>
            </a:r>
          </a:p>
        </p:txBody>
      </p:sp>
      <p:sp>
        <p:nvSpPr>
          <p:cNvPr id="189" name="Title"/>
          <p:cNvSpPr/>
          <p:nvPr/>
        </p:nvSpPr>
        <p:spPr>
          <a:xfrm>
            <a:off x="914400" y="2700000"/>
            <a:ext cx="100584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44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 NH &amp; TÌNH HUỐNG KHÓ</a:t>
            </a:r>
          </a:p>
        </p:txBody>
      </p:sp>
      <p:sp>
        <p:nvSpPr>
          <p:cNvPr id="190" name="Sub"/>
          <p:cNvSpPr/>
          <p:nvPr/>
        </p:nvSpPr>
        <p:spPr>
          <a:xfrm>
            <a:off x="914400" y="4200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600" b="0" i="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NH · 8 tình huống · Hành động ngay</a:t>
            </a:r>
          </a:p>
        </p:txBody>
      </p:sp>
      <p:sp>
        <p:nvSpPr>
          <p:cNvPr id="191" name="DivLine"/>
          <p:cNvSpPr/>
          <p:nvPr/>
        </p:nvSpPr>
        <p:spPr>
          <a:xfrm>
            <a:off x="914400" y="4900000"/>
            <a:ext cx="1200000" cy="1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92" name="Brand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100" b="1" i="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</a:t>
            </a:r>
          </a:p>
        </p:txBody>
      </p:sp>
      <p:sp>
        <p:nvSpPr>
          <p:cNvPr id="193" name="Pg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vi-VN" sz="1000" b="0" i="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" name="RedBar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95" name="PhanLbl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06</a:t>
            </a:r>
          </a:p>
        </p:txBody>
      </p:sp>
      <p:sp>
        <p:nvSpPr>
          <p:cNvPr id="196" name="Title"/>
          <p:cNvSpPr/>
          <p:nvPr/>
        </p:nvSpPr>
        <p:spPr>
          <a:xfrm>
            <a:off x="548640" y="580000"/>
            <a:ext cx="109728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8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tục vay ngân hàng mua xe cũ</a:t>
            </a:r>
          </a:p>
        </p:txBody>
      </p:sp>
      <p:sp>
        <p:nvSpPr>
          <p:cNvPr id="197" name="Sub"/>
          <p:cNvSpPr/>
          <p:nvPr/>
        </p:nvSpPr>
        <p:spPr>
          <a:xfrm>
            <a:off x="548640" y="1200000"/>
            <a:ext cx="109728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vững hồ sơ để hỗ trợ KH vay suôn sẻ – không để deal đổ vì thiếu giấy tờ</a:t>
            </a:r>
          </a:p>
        </p:txBody>
      </p:sp>
      <p:sp>
        <p:nvSpPr>
          <p:cNvPr id="198" name="AccLine"/>
          <p:cNvSpPr/>
          <p:nvPr/>
        </p:nvSpPr>
        <p:spPr>
          <a:xfrm>
            <a:off x="548640" y="1520000"/>
            <a:ext cx="10972800" cy="18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199" name="LBg"/>
          <p:cNvSpPr/>
          <p:nvPr/>
        </p:nvSpPr>
        <p:spPr>
          <a:xfrm>
            <a:off x="300000" y="1620000"/>
            <a:ext cx="5706000" cy="45500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144">
            <a:solidFill>
              <a:srgbClr val="E8EBF0"/>
            </a:solidFill>
          </a:ln>
        </p:spPr>
      </p:sp>
      <p:sp>
        <p:nvSpPr>
          <p:cNvPr id="200" name="LHdr"/>
          <p:cNvSpPr/>
          <p:nvPr/>
        </p:nvSpPr>
        <p:spPr>
          <a:xfrm>
            <a:off x="300000" y="1620000"/>
            <a:ext cx="5706000" cy="4300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01" name="LHdrT"/>
          <p:cNvSpPr/>
          <p:nvPr/>
        </p:nvSpPr>
        <p:spPr>
          <a:xfrm>
            <a:off x="300000" y="1620000"/>
            <a:ext cx="5706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08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GIẢI NGÂN (XE CÔNG CHỨNG)</a:t>
            </a:r>
          </a:p>
        </p:txBody>
      </p:sp>
      <p:sp>
        <p:nvSpPr>
          <p:cNvPr id="202" name="DocTag0"/>
          <p:cNvSpPr/>
          <p:nvPr/>
        </p:nvSpPr>
        <p:spPr>
          <a:xfrm>
            <a:off x="360000" y="2278333"/>
            <a:ext cx="230000" cy="2300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03" name="DocTagN0"/>
          <p:cNvSpPr/>
          <p:nvPr/>
        </p:nvSpPr>
        <p:spPr>
          <a:xfrm>
            <a:off x="360000" y="2278333"/>
            <a:ext cx="23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9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  <p:sp>
        <p:nvSpPr>
          <p:cNvPr id="204" name="DocTxt0"/>
          <p:cNvSpPr/>
          <p:nvPr/>
        </p:nvSpPr>
        <p:spPr>
          <a:xfrm>
            <a:off x="660000" y="2050000"/>
            <a:ext cx="5316000" cy="68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hẹn đăng ký / Giấy đăng ký xe (bản gốc)</a:t>
            </a:r>
          </a:p>
        </p:txBody>
      </p:sp>
      <p:sp>
        <p:nvSpPr>
          <p:cNvPr id="205" name="DSep0"/>
          <p:cNvSpPr/>
          <p:nvPr/>
        </p:nvSpPr>
        <p:spPr>
          <a:xfrm>
            <a:off x="360000" y="2724666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06" name="DocTag1"/>
          <p:cNvSpPr/>
          <p:nvPr/>
        </p:nvSpPr>
        <p:spPr>
          <a:xfrm>
            <a:off x="360000" y="2964999"/>
            <a:ext cx="230000" cy="2300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07" name="DocTagN1"/>
          <p:cNvSpPr/>
          <p:nvPr/>
        </p:nvSpPr>
        <p:spPr>
          <a:xfrm>
            <a:off x="360000" y="2964999"/>
            <a:ext cx="23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9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</p:txBody>
      </p:sp>
      <p:sp>
        <p:nvSpPr>
          <p:cNvPr id="208" name="DocTxt1"/>
          <p:cNvSpPr/>
          <p:nvPr/>
        </p:nvSpPr>
        <p:spPr>
          <a:xfrm>
            <a:off x="660000" y="2736666"/>
            <a:ext cx="5316000" cy="68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HĐ ủy quyền + HĐ mua bán công chứng (sao y)</a:t>
            </a:r>
          </a:p>
        </p:txBody>
      </p:sp>
      <p:sp>
        <p:nvSpPr>
          <p:cNvPr id="209" name="DSep1"/>
          <p:cNvSpPr/>
          <p:nvPr/>
        </p:nvSpPr>
        <p:spPr>
          <a:xfrm>
            <a:off x="360000" y="3411332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10" name="DocTag2"/>
          <p:cNvSpPr/>
          <p:nvPr/>
        </p:nvSpPr>
        <p:spPr>
          <a:xfrm>
            <a:off x="360000" y="3651665"/>
            <a:ext cx="230000" cy="2300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11" name="DocTagN2"/>
          <p:cNvSpPr/>
          <p:nvPr/>
        </p:nvSpPr>
        <p:spPr>
          <a:xfrm>
            <a:off x="360000" y="3651665"/>
            <a:ext cx="23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9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  <p:sp>
        <p:nvSpPr>
          <p:cNvPr id="212" name="DocTxt2"/>
          <p:cNvSpPr/>
          <p:nvPr/>
        </p:nvSpPr>
        <p:spPr>
          <a:xfrm>
            <a:off x="660000" y="3423332"/>
            <a:ext cx="5316000" cy="68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 bảo hiểm vật chất (bắt buộc khi vay)</a:t>
            </a:r>
          </a:p>
        </p:txBody>
      </p:sp>
      <p:sp>
        <p:nvSpPr>
          <p:cNvPr id="213" name="DSep2"/>
          <p:cNvSpPr/>
          <p:nvPr/>
        </p:nvSpPr>
        <p:spPr>
          <a:xfrm>
            <a:off x="360000" y="4097998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14" name="DocTag3"/>
          <p:cNvSpPr/>
          <p:nvPr/>
        </p:nvSpPr>
        <p:spPr>
          <a:xfrm>
            <a:off x="360000" y="4338331"/>
            <a:ext cx="230000" cy="2300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15" name="DocTagN3"/>
          <p:cNvSpPr/>
          <p:nvPr/>
        </p:nvSpPr>
        <p:spPr>
          <a:xfrm>
            <a:off x="360000" y="4338331"/>
            <a:ext cx="23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9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</a:p>
        </p:txBody>
      </p:sp>
      <p:sp>
        <p:nvSpPr>
          <p:cNvPr id="216" name="DocTxt3"/>
          <p:cNvSpPr/>
          <p:nvPr/>
        </p:nvSpPr>
        <p:spPr>
          <a:xfrm>
            <a:off x="660000" y="4109998"/>
            <a:ext cx="5316000" cy="68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Giấy đề nghị giải ngân (có xác nhận tiền đối ứng)</a:t>
            </a:r>
          </a:p>
        </p:txBody>
      </p:sp>
      <p:sp>
        <p:nvSpPr>
          <p:cNvPr id="217" name="DSep3"/>
          <p:cNvSpPr/>
          <p:nvPr/>
        </p:nvSpPr>
        <p:spPr>
          <a:xfrm>
            <a:off x="360000" y="4784664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18" name="DocTag4"/>
          <p:cNvSpPr/>
          <p:nvPr/>
        </p:nvSpPr>
        <p:spPr>
          <a:xfrm>
            <a:off x="360000" y="5024997"/>
            <a:ext cx="230000" cy="2300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19" name="DocTagN4"/>
          <p:cNvSpPr/>
          <p:nvPr/>
        </p:nvSpPr>
        <p:spPr>
          <a:xfrm>
            <a:off x="360000" y="5024997"/>
            <a:ext cx="23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9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</a:p>
        </p:txBody>
      </p:sp>
      <p:sp>
        <p:nvSpPr>
          <p:cNvPr id="220" name="DocTxt4"/>
          <p:cNvSpPr/>
          <p:nvPr/>
        </p:nvSpPr>
        <p:spPr>
          <a:xfrm>
            <a:off x="660000" y="4796664"/>
            <a:ext cx="5316000" cy="68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HĐ thỏa thuận mua bán xe giữa bên bán &amp; bên mua</a:t>
            </a:r>
          </a:p>
        </p:txBody>
      </p:sp>
      <p:sp>
        <p:nvSpPr>
          <p:cNvPr id="221" name="DSep4"/>
          <p:cNvSpPr/>
          <p:nvPr/>
        </p:nvSpPr>
        <p:spPr>
          <a:xfrm>
            <a:off x="360000" y="5471330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22" name="DocTag5"/>
          <p:cNvSpPr/>
          <p:nvPr/>
        </p:nvSpPr>
        <p:spPr>
          <a:xfrm>
            <a:off x="360000" y="5711663"/>
            <a:ext cx="230000" cy="2300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23" name="DocTagN5"/>
          <p:cNvSpPr/>
          <p:nvPr/>
        </p:nvSpPr>
        <p:spPr>
          <a:xfrm>
            <a:off x="360000" y="5711663"/>
            <a:ext cx="23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9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</a:p>
        </p:txBody>
      </p:sp>
      <p:sp>
        <p:nvSpPr>
          <p:cNvPr id="224" name="DocTxt5"/>
          <p:cNvSpPr/>
          <p:nvPr/>
        </p:nvSpPr>
        <p:spPr>
          <a:xfrm>
            <a:off x="660000" y="5483330"/>
            <a:ext cx="5316000" cy="68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CCCD bên bán + CCCD bên mua (bản photo công chứng)</a:t>
            </a:r>
          </a:p>
        </p:txBody>
      </p:sp>
      <p:sp>
        <p:nvSpPr>
          <p:cNvPr id="225" name="RBg"/>
          <p:cNvSpPr/>
          <p:nvPr/>
        </p:nvSpPr>
        <p:spPr>
          <a:xfrm>
            <a:off x="6186000" y="1620000"/>
            <a:ext cx="5706000" cy="45500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144">
            <a:solidFill>
              <a:srgbClr val="E8EBF0"/>
            </a:solidFill>
          </a:ln>
        </p:spPr>
      </p:sp>
      <p:sp>
        <p:nvSpPr>
          <p:cNvPr id="226" name="RHdr"/>
          <p:cNvSpPr/>
          <p:nvPr/>
        </p:nvSpPr>
        <p:spPr>
          <a:xfrm>
            <a:off x="6186000" y="1620000"/>
            <a:ext cx="5706000" cy="4300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27" name="RHdrT"/>
          <p:cNvSpPr/>
          <p:nvPr/>
        </p:nvSpPr>
        <p:spPr>
          <a:xfrm>
            <a:off x="6186000" y="1620000"/>
            <a:ext cx="5706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08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KHI TƯ VẤN VAY NGÂN HÀNG</a:t>
            </a:r>
          </a:p>
        </p:txBody>
      </p:sp>
      <p:sp>
        <p:nvSpPr>
          <p:cNvPr id="228" name="TipIcon0"/>
          <p:cNvSpPr/>
          <p:nvPr/>
        </p:nvSpPr>
        <p:spPr>
          <a:xfrm>
            <a:off x="6246000" y="2234285"/>
            <a:ext cx="220000" cy="22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29" name="TipIc0"/>
          <p:cNvSpPr/>
          <p:nvPr/>
        </p:nvSpPr>
        <p:spPr>
          <a:xfrm>
            <a:off x="6246000" y="2234285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0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</a:p>
        </p:txBody>
      </p:sp>
      <p:sp>
        <p:nvSpPr>
          <p:cNvPr id="230" name="TipTxt0"/>
          <p:cNvSpPr/>
          <p:nvPr/>
        </p:nvSpPr>
        <p:spPr>
          <a:xfrm>
            <a:off x="6536000" y="2050000"/>
            <a:ext cx="5326000" cy="58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KH: Đã từng vay chưa? Lịch sử CIC tốt không?</a:t>
            </a:r>
          </a:p>
        </p:txBody>
      </p:sp>
      <p:sp>
        <p:nvSpPr>
          <p:cNvPr id="231" name="TSep0"/>
          <p:cNvSpPr/>
          <p:nvPr/>
        </p:nvSpPr>
        <p:spPr>
          <a:xfrm>
            <a:off x="6246000" y="2626571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32" name="TipIcon1"/>
          <p:cNvSpPr/>
          <p:nvPr/>
        </p:nvSpPr>
        <p:spPr>
          <a:xfrm>
            <a:off x="6246000" y="2822856"/>
            <a:ext cx="220000" cy="22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33" name="TipIc1"/>
          <p:cNvSpPr/>
          <p:nvPr/>
        </p:nvSpPr>
        <p:spPr>
          <a:xfrm>
            <a:off x="6246000" y="2822856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0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</a:p>
        </p:txBody>
      </p:sp>
      <p:sp>
        <p:nvSpPr>
          <p:cNvPr id="234" name="TipTxt1"/>
          <p:cNvSpPr/>
          <p:nvPr/>
        </p:nvSpPr>
        <p:spPr>
          <a:xfrm>
            <a:off x="6536000" y="2638571"/>
            <a:ext cx="5326000" cy="58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 tối đa 70–80% giá trị xe (tùy từng ngân hàng)</a:t>
            </a:r>
          </a:p>
        </p:txBody>
      </p:sp>
      <p:sp>
        <p:nvSpPr>
          <p:cNvPr id="235" name="TSep1"/>
          <p:cNvSpPr/>
          <p:nvPr/>
        </p:nvSpPr>
        <p:spPr>
          <a:xfrm>
            <a:off x="6246000" y="3215142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36" name="TipIcon2"/>
          <p:cNvSpPr/>
          <p:nvPr/>
        </p:nvSpPr>
        <p:spPr>
          <a:xfrm>
            <a:off x="6246000" y="3411427"/>
            <a:ext cx="220000" cy="22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37" name="TipIc2"/>
          <p:cNvSpPr/>
          <p:nvPr/>
        </p:nvSpPr>
        <p:spPr>
          <a:xfrm>
            <a:off x="6246000" y="3411427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0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</a:p>
        </p:txBody>
      </p:sp>
      <p:sp>
        <p:nvSpPr>
          <p:cNvPr id="238" name="TipTxt2"/>
          <p:cNvSpPr/>
          <p:nvPr/>
        </p:nvSpPr>
        <p:spPr>
          <a:xfrm>
            <a:off x="6536000" y="3227142"/>
            <a:ext cx="5326000" cy="58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Lãi suất 8–12%/năm  ·  Kỳ hạn 12–60 tháng</a:t>
            </a:r>
          </a:p>
        </p:txBody>
      </p:sp>
      <p:sp>
        <p:nvSpPr>
          <p:cNvPr id="239" name="TSep2"/>
          <p:cNvSpPr/>
          <p:nvPr/>
        </p:nvSpPr>
        <p:spPr>
          <a:xfrm>
            <a:off x="6246000" y="3803713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40" name="TipIcon3"/>
          <p:cNvSpPr/>
          <p:nvPr/>
        </p:nvSpPr>
        <p:spPr>
          <a:xfrm>
            <a:off x="6246000" y="3999998"/>
            <a:ext cx="220000" cy="2200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41" name="TipIc3"/>
          <p:cNvSpPr/>
          <p:nvPr/>
        </p:nvSpPr>
        <p:spPr>
          <a:xfrm>
            <a:off x="6246000" y="3999998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0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</a:p>
        </p:txBody>
      </p:sp>
      <p:sp>
        <p:nvSpPr>
          <p:cNvPr id="242" name="TipTxt3"/>
          <p:cNvSpPr/>
          <p:nvPr/>
        </p:nvSpPr>
        <p:spPr>
          <a:xfrm>
            <a:off x="6536000" y="3815713"/>
            <a:ext cx="5326000" cy="58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trên 10 năm: một số NH KHÔNG cho vay</a:t>
            </a:r>
          </a:p>
        </p:txBody>
      </p:sp>
      <p:sp>
        <p:nvSpPr>
          <p:cNvPr id="243" name="TSep3"/>
          <p:cNvSpPr/>
          <p:nvPr/>
        </p:nvSpPr>
        <p:spPr>
          <a:xfrm>
            <a:off x="6246000" y="4392284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44" name="TipIcon4"/>
          <p:cNvSpPr/>
          <p:nvPr/>
        </p:nvSpPr>
        <p:spPr>
          <a:xfrm>
            <a:off x="6246000" y="4588569"/>
            <a:ext cx="220000" cy="22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45" name="TipIc4"/>
          <p:cNvSpPr/>
          <p:nvPr/>
        </p:nvSpPr>
        <p:spPr>
          <a:xfrm>
            <a:off x="6246000" y="4588569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0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</a:p>
        </p:txBody>
      </p:sp>
      <p:sp>
        <p:nvSpPr>
          <p:cNvPr id="246" name="TipTxt4"/>
          <p:cNvSpPr/>
          <p:nvPr/>
        </p:nvSpPr>
        <p:spPr>
          <a:xfrm>
            <a:off x="6536000" y="4404284"/>
            <a:ext cx="5326000" cy="58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1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 mua BHVC khi vay – tư vấn song song</a:t>
            </a:r>
          </a:p>
        </p:txBody>
      </p:sp>
      <p:sp>
        <p:nvSpPr>
          <p:cNvPr id="247" name="TSep4"/>
          <p:cNvSpPr/>
          <p:nvPr/>
        </p:nvSpPr>
        <p:spPr>
          <a:xfrm>
            <a:off x="6246000" y="4980855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48" name="TipIcon5"/>
          <p:cNvSpPr/>
          <p:nvPr/>
        </p:nvSpPr>
        <p:spPr>
          <a:xfrm>
            <a:off x="6246000" y="5177140"/>
            <a:ext cx="220000" cy="22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49" name="TipIc5"/>
          <p:cNvSpPr/>
          <p:nvPr/>
        </p:nvSpPr>
        <p:spPr>
          <a:xfrm>
            <a:off x="6246000" y="5177140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0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</a:p>
        </p:txBody>
      </p:sp>
      <p:sp>
        <p:nvSpPr>
          <p:cNvPr id="250" name="TipTxt5"/>
          <p:cNvSpPr/>
          <p:nvPr/>
        </p:nvSpPr>
        <p:spPr>
          <a:xfrm>
            <a:off x="6536000" y="4992855"/>
            <a:ext cx="5326000" cy="58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giải ngân: 1–3 ngày làm việc</a:t>
            </a:r>
          </a:p>
        </p:txBody>
      </p:sp>
      <p:sp>
        <p:nvSpPr>
          <p:cNvPr id="251" name="TSep5"/>
          <p:cNvSpPr/>
          <p:nvPr/>
        </p:nvSpPr>
        <p:spPr>
          <a:xfrm>
            <a:off x="6246000" y="5569426"/>
            <a:ext cx="5626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52" name="TipIcon6"/>
          <p:cNvSpPr/>
          <p:nvPr/>
        </p:nvSpPr>
        <p:spPr>
          <a:xfrm>
            <a:off x="6246000" y="5765711"/>
            <a:ext cx="220000" cy="220000"/>
          </a:xfrm>
          <a:prstGeom prst="ellipse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53" name="TipIc6"/>
          <p:cNvSpPr/>
          <p:nvPr/>
        </p:nvSpPr>
        <p:spPr>
          <a:xfrm>
            <a:off x="6246000" y="5765711"/>
            <a:ext cx="2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0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</a:p>
        </p:txBody>
      </p:sp>
      <p:sp>
        <p:nvSpPr>
          <p:cNvPr id="254" name="TipTxt6"/>
          <p:cNvSpPr/>
          <p:nvPr/>
        </p:nvSpPr>
        <p:spPr>
          <a:xfrm>
            <a:off x="6536000" y="5581426"/>
            <a:ext cx="5326000" cy="58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60" b="0" i="0" kern="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hỗ trợ hồ sơ – không để KH tự làm một mình</a:t>
            </a:r>
          </a:p>
        </p:txBody>
      </p:sp>
      <p:sp>
        <p:nvSpPr>
          <p:cNvPr id="255" name="FBar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56" name="FTx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</a:p>
        </p:txBody>
      </p:sp>
      <p:sp>
        <p:nvSpPr>
          <p:cNvPr id="257" name="FPg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vi-VN" sz="1000" b="0" i="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8" name="RedBar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59" name="PhanLbl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06</a:t>
            </a:r>
          </a:p>
        </p:txBody>
      </p:sp>
      <p:sp>
        <p:nvSpPr>
          <p:cNvPr id="260" name="Title"/>
          <p:cNvSpPr/>
          <p:nvPr/>
        </p:nvSpPr>
        <p:spPr>
          <a:xfrm>
            <a:off x="548640" y="580000"/>
            <a:ext cx="109728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8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tình huống khó thường gặp &amp; cách xử lý</a:t>
            </a:r>
          </a:p>
        </p:txBody>
      </p:sp>
      <p:sp>
        <p:nvSpPr>
          <p:cNvPr id="261" name="Sub"/>
          <p:cNvSpPr/>
          <p:nvPr/>
        </p:nvSpPr>
        <p:spPr>
          <a:xfrm>
            <a:off x="548640" y="1200000"/>
            <a:ext cx="109728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trước – xử lý khéo – không mất deal vì bất ngờ</a:t>
            </a:r>
          </a:p>
        </p:txBody>
      </p:sp>
      <p:sp>
        <p:nvSpPr>
          <p:cNvPr id="262" name="AccLine"/>
          <p:cNvSpPr/>
          <p:nvPr/>
        </p:nvSpPr>
        <p:spPr>
          <a:xfrm>
            <a:off x="548640" y="1520000"/>
            <a:ext cx="10972800" cy="18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63" name="CBg"/>
          <p:cNvSpPr/>
          <p:nvPr/>
        </p:nvSpPr>
        <p:spPr>
          <a:xfrm>
            <a:off x="280000" y="1640000"/>
            <a:ext cx="5741000" cy="1219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264" name="CLBar"/>
          <p:cNvSpPr/>
          <p:nvPr/>
        </p:nvSpPr>
        <p:spPr>
          <a:xfrm>
            <a:off x="280000" y="1640000"/>
            <a:ext cx="220000" cy="12195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65" name="CNum"/>
          <p:cNvSpPr/>
          <p:nvPr/>
        </p:nvSpPr>
        <p:spPr>
          <a:xfrm>
            <a:off x="280000" y="1640000"/>
            <a:ext cx="220000" cy="12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5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66" name="CTitle"/>
          <p:cNvSpPr/>
          <p:nvPr/>
        </p:nvSpPr>
        <p:spPr>
          <a:xfrm>
            <a:off x="570000" y="1680000"/>
            <a:ext cx="5431000" cy="472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0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TRẢ GIÁ NHIỀU QUA ĐIỆN THOẠI</a:t>
            </a:r>
          </a:p>
        </p:txBody>
      </p:sp>
      <p:sp>
        <p:nvSpPr>
          <p:cNvPr id="267" name="CSep"/>
          <p:cNvSpPr/>
          <p:nvPr/>
        </p:nvSpPr>
        <p:spPr>
          <a:xfrm>
            <a:off x="570000" y="2152190"/>
            <a:ext cx="5431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68" name="CAction"/>
          <p:cNvSpPr/>
          <p:nvPr/>
        </p:nvSpPr>
        <p:spPr>
          <a:xfrm>
            <a:off x="570000" y="2192190"/>
            <a:ext cx="5431000" cy="647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940" b="0" i="1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báo giá qua điện thoại. Mời KH đến xem xe thực tế rồi thương lượng giá trực tiếp.</a:t>
            </a:r>
          </a:p>
        </p:txBody>
      </p:sp>
      <p:sp>
        <p:nvSpPr>
          <p:cNvPr id="269" name="CBg"/>
          <p:cNvSpPr/>
          <p:nvPr/>
        </p:nvSpPr>
        <p:spPr>
          <a:xfrm>
            <a:off x="6171000" y="1640000"/>
            <a:ext cx="5741000" cy="1219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270" name="CLBar"/>
          <p:cNvSpPr/>
          <p:nvPr/>
        </p:nvSpPr>
        <p:spPr>
          <a:xfrm>
            <a:off x="6171000" y="1640000"/>
            <a:ext cx="220000" cy="12195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71" name="CNum"/>
          <p:cNvSpPr/>
          <p:nvPr/>
        </p:nvSpPr>
        <p:spPr>
          <a:xfrm>
            <a:off x="6171000" y="1640000"/>
            <a:ext cx="220000" cy="12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5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272" name="CTitle"/>
          <p:cNvSpPr/>
          <p:nvPr/>
        </p:nvSpPr>
        <p:spPr>
          <a:xfrm>
            <a:off x="6461000" y="1680000"/>
            <a:ext cx="5431000" cy="472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0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 KHẢO GIÁ NHIỀU TVBH TRONG ĐẠI LÝ</a:t>
            </a:r>
          </a:p>
        </p:txBody>
      </p:sp>
      <p:sp>
        <p:nvSpPr>
          <p:cNvPr id="273" name="CSep"/>
          <p:cNvSpPr/>
          <p:nvPr/>
        </p:nvSpPr>
        <p:spPr>
          <a:xfrm>
            <a:off x="6461000" y="2152190"/>
            <a:ext cx="5431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74" name="CAction"/>
          <p:cNvSpPr/>
          <p:nvPr/>
        </p:nvSpPr>
        <p:spPr>
          <a:xfrm>
            <a:off x="6461000" y="2192190"/>
            <a:ext cx="5431000" cy="647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940" b="0" i="1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Phối hợp nội bộ, thống nhất giá chung. Tránh cạnh tranh giảm giá nội bộ gây mất đoàn kết.</a:t>
            </a:r>
          </a:p>
        </p:txBody>
      </p:sp>
      <p:sp>
        <p:nvSpPr>
          <p:cNvPr id="275" name="CBg"/>
          <p:cNvSpPr/>
          <p:nvPr/>
        </p:nvSpPr>
        <p:spPr>
          <a:xfrm>
            <a:off x="280000" y="3009500"/>
            <a:ext cx="5741000" cy="1219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276" name="CLBar"/>
          <p:cNvSpPr/>
          <p:nvPr/>
        </p:nvSpPr>
        <p:spPr>
          <a:xfrm>
            <a:off x="280000" y="3009500"/>
            <a:ext cx="220000" cy="12195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77" name="CNum"/>
          <p:cNvSpPr/>
          <p:nvPr/>
        </p:nvSpPr>
        <p:spPr>
          <a:xfrm>
            <a:off x="280000" y="3009500"/>
            <a:ext cx="220000" cy="12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5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78" name="CTitle"/>
          <p:cNvSpPr/>
          <p:nvPr/>
        </p:nvSpPr>
        <p:spPr>
          <a:xfrm>
            <a:off x="570000" y="3049500"/>
            <a:ext cx="5431000" cy="472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0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CAO HƠN SALON / ĐẠI LÝ KHÁC</a:t>
            </a:r>
          </a:p>
        </p:txBody>
      </p:sp>
      <p:sp>
        <p:nvSpPr>
          <p:cNvPr id="279" name="CSep"/>
          <p:cNvSpPr/>
          <p:nvPr/>
        </p:nvSpPr>
        <p:spPr>
          <a:xfrm>
            <a:off x="570000" y="3521690"/>
            <a:ext cx="5431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80" name="CAction"/>
          <p:cNvSpPr/>
          <p:nvPr/>
        </p:nvSpPr>
        <p:spPr>
          <a:xfrm>
            <a:off x="570000" y="3561690"/>
            <a:ext cx="5431000" cy="647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940" b="0" i="1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Nhấn giá trị: BH 12T, 167 điểm kỹ thuật, cam kết pháp lý bằng văn bản, tân trang chính hãng.</a:t>
            </a:r>
          </a:p>
        </p:txBody>
      </p:sp>
      <p:sp>
        <p:nvSpPr>
          <p:cNvPr id="281" name="CBg"/>
          <p:cNvSpPr/>
          <p:nvPr/>
        </p:nvSpPr>
        <p:spPr>
          <a:xfrm>
            <a:off x="6171000" y="3009500"/>
            <a:ext cx="5741000" cy="1219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282" name="CLBar"/>
          <p:cNvSpPr/>
          <p:nvPr/>
        </p:nvSpPr>
        <p:spPr>
          <a:xfrm>
            <a:off x="6171000" y="3009500"/>
            <a:ext cx="220000" cy="12195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83" name="CNum"/>
          <p:cNvSpPr/>
          <p:nvPr/>
        </p:nvSpPr>
        <p:spPr>
          <a:xfrm>
            <a:off x="6171000" y="3009500"/>
            <a:ext cx="220000" cy="12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5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84" name="CTitle"/>
          <p:cNvSpPr/>
          <p:nvPr/>
        </p:nvSpPr>
        <p:spPr>
          <a:xfrm>
            <a:off x="6461000" y="3049500"/>
            <a:ext cx="5431000" cy="472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0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CHƯA LÊN STOCK ĐÃ CÓ TVBH BÁN</a:t>
            </a:r>
          </a:p>
        </p:txBody>
      </p:sp>
      <p:sp>
        <p:nvSpPr>
          <p:cNvPr id="285" name="CSep"/>
          <p:cNvSpPr/>
          <p:nvPr/>
        </p:nvSpPr>
        <p:spPr>
          <a:xfrm>
            <a:off x="6461000" y="3521690"/>
            <a:ext cx="5431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86" name="CAction"/>
          <p:cNvSpPr/>
          <p:nvPr/>
        </p:nvSpPr>
        <p:spPr>
          <a:xfrm>
            <a:off x="6461000" y="3561690"/>
            <a:ext cx="5431000" cy="647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940" b="0" i="1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Báo ngay quản lý. Không nhận cọc khi xe chưa sẵn sàng – tránh rủi ro không giao được xe.</a:t>
            </a:r>
          </a:p>
        </p:txBody>
      </p:sp>
      <p:sp>
        <p:nvSpPr>
          <p:cNvPr id="287" name="CBg"/>
          <p:cNvSpPr/>
          <p:nvPr/>
        </p:nvSpPr>
        <p:spPr>
          <a:xfrm>
            <a:off x="280000" y="4379000"/>
            <a:ext cx="5741000" cy="1219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288" name="CLBar"/>
          <p:cNvSpPr/>
          <p:nvPr/>
        </p:nvSpPr>
        <p:spPr>
          <a:xfrm>
            <a:off x="280000" y="4379000"/>
            <a:ext cx="220000" cy="12195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289" name="CNum"/>
          <p:cNvSpPr/>
          <p:nvPr/>
        </p:nvSpPr>
        <p:spPr>
          <a:xfrm>
            <a:off x="280000" y="4379000"/>
            <a:ext cx="220000" cy="12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5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90" name="CTitle"/>
          <p:cNvSpPr/>
          <p:nvPr/>
        </p:nvSpPr>
        <p:spPr>
          <a:xfrm>
            <a:off x="570000" y="4419000"/>
            <a:ext cx="5431000" cy="472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0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DỌN CHƯA ĐẠT, CÒN KHUYẾT ĐIỂM</a:t>
            </a:r>
          </a:p>
        </p:txBody>
      </p:sp>
      <p:sp>
        <p:nvSpPr>
          <p:cNvPr id="291" name="CSep"/>
          <p:cNvSpPr/>
          <p:nvPr/>
        </p:nvSpPr>
        <p:spPr>
          <a:xfrm>
            <a:off x="570000" y="4891190"/>
            <a:ext cx="5431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92" name="CAction"/>
          <p:cNvSpPr/>
          <p:nvPr/>
        </p:nvSpPr>
        <p:spPr>
          <a:xfrm>
            <a:off x="570000" y="4931190"/>
            <a:ext cx="5431000" cy="647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940" b="0" i="1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đưa xe ra khi chưa đạt chuẩn. Thông báo thời gian hoàn thiện cụ thể cho KH.</a:t>
            </a:r>
          </a:p>
        </p:txBody>
      </p:sp>
      <p:sp>
        <p:nvSpPr>
          <p:cNvPr id="293" name="CBg"/>
          <p:cNvSpPr/>
          <p:nvPr/>
        </p:nvSpPr>
        <p:spPr>
          <a:xfrm>
            <a:off x="6171000" y="4379000"/>
            <a:ext cx="5741000" cy="1219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294" name="CLBar"/>
          <p:cNvSpPr/>
          <p:nvPr/>
        </p:nvSpPr>
        <p:spPr>
          <a:xfrm>
            <a:off x="6171000" y="4379000"/>
            <a:ext cx="220000" cy="12195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295" name="CNum"/>
          <p:cNvSpPr/>
          <p:nvPr/>
        </p:nvSpPr>
        <p:spPr>
          <a:xfrm>
            <a:off x="6171000" y="4379000"/>
            <a:ext cx="220000" cy="12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5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296" name="CTitle"/>
          <p:cNvSpPr/>
          <p:nvPr/>
        </p:nvSpPr>
        <p:spPr>
          <a:xfrm>
            <a:off x="6461000" y="4419000"/>
            <a:ext cx="5431000" cy="472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0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TỤC THU HỒI BIỂN SỐ LÂU</a:t>
            </a:r>
          </a:p>
        </p:txBody>
      </p:sp>
      <p:sp>
        <p:nvSpPr>
          <p:cNvPr id="297" name="CSep"/>
          <p:cNvSpPr/>
          <p:nvPr/>
        </p:nvSpPr>
        <p:spPr>
          <a:xfrm>
            <a:off x="6461000" y="4891190"/>
            <a:ext cx="5431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298" name="CAction"/>
          <p:cNvSpPr/>
          <p:nvPr/>
        </p:nvSpPr>
        <p:spPr>
          <a:xfrm>
            <a:off x="6461000" y="4931190"/>
            <a:ext cx="5431000" cy="647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940" b="0" i="1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Giải thích quy trình 2–4 tuần từ đầu. Chủ động cập nhật tiến độ thường xuyên cho KH.</a:t>
            </a:r>
          </a:p>
        </p:txBody>
      </p:sp>
      <p:sp>
        <p:nvSpPr>
          <p:cNvPr id="299" name="CBg"/>
          <p:cNvSpPr/>
          <p:nvPr/>
        </p:nvSpPr>
        <p:spPr>
          <a:xfrm>
            <a:off x="280000" y="5748500"/>
            <a:ext cx="5741000" cy="1219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300" name="CLBar"/>
          <p:cNvSpPr/>
          <p:nvPr/>
        </p:nvSpPr>
        <p:spPr>
          <a:xfrm>
            <a:off x="280000" y="5748500"/>
            <a:ext cx="220000" cy="12195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301" name="CNum"/>
          <p:cNvSpPr/>
          <p:nvPr/>
        </p:nvSpPr>
        <p:spPr>
          <a:xfrm>
            <a:off x="280000" y="5748500"/>
            <a:ext cx="220000" cy="12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5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02" name="CTitle"/>
          <p:cNvSpPr/>
          <p:nvPr/>
        </p:nvSpPr>
        <p:spPr>
          <a:xfrm>
            <a:off x="570000" y="5788500"/>
            <a:ext cx="5431000" cy="472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0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HẾT ĐĂNG KIỂM / ÂM ĐƯỜNG BỘ</a:t>
            </a:r>
          </a:p>
        </p:txBody>
      </p:sp>
      <p:sp>
        <p:nvSpPr>
          <p:cNvPr id="303" name="CSep"/>
          <p:cNvSpPr/>
          <p:nvPr/>
        </p:nvSpPr>
        <p:spPr>
          <a:xfrm>
            <a:off x="570000" y="6260690"/>
            <a:ext cx="5431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304" name="CAction"/>
          <p:cNvSpPr/>
          <p:nvPr/>
        </p:nvSpPr>
        <p:spPr>
          <a:xfrm>
            <a:off x="570000" y="6300690"/>
            <a:ext cx="5431000" cy="647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940" b="0" i="1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Kiểm tra trước khi tư vấn. Tính phí phát sinh và báo rõ KH trước khi ký hợp đồng.</a:t>
            </a:r>
          </a:p>
        </p:txBody>
      </p:sp>
      <p:sp>
        <p:nvSpPr>
          <p:cNvPr id="305" name="CBg"/>
          <p:cNvSpPr/>
          <p:nvPr/>
        </p:nvSpPr>
        <p:spPr>
          <a:xfrm>
            <a:off x="6171000" y="5748500"/>
            <a:ext cx="5741000" cy="1219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144">
            <a:solidFill>
              <a:srgbClr val="E8EBF0"/>
            </a:solidFill>
          </a:ln>
        </p:spPr>
      </p:sp>
      <p:sp>
        <p:nvSpPr>
          <p:cNvPr id="306" name="CLBar"/>
          <p:cNvSpPr/>
          <p:nvPr/>
        </p:nvSpPr>
        <p:spPr>
          <a:xfrm>
            <a:off x="6171000" y="5748500"/>
            <a:ext cx="220000" cy="12195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307" name="CNum"/>
          <p:cNvSpPr/>
          <p:nvPr/>
        </p:nvSpPr>
        <p:spPr>
          <a:xfrm>
            <a:off x="6171000" y="5748500"/>
            <a:ext cx="220000" cy="12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1500" b="1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  <p:sp>
        <p:nvSpPr>
          <p:cNvPr id="308" name="CTitle"/>
          <p:cNvSpPr/>
          <p:nvPr/>
        </p:nvSpPr>
        <p:spPr>
          <a:xfrm>
            <a:off x="6461000" y="5788500"/>
            <a:ext cx="5431000" cy="472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0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VƯỚNG CẢI TẠO – PHÁT SINH CHI PHÍ</a:t>
            </a:r>
          </a:p>
        </p:txBody>
      </p:sp>
      <p:sp>
        <p:nvSpPr>
          <p:cNvPr id="309" name="CSep"/>
          <p:cNvSpPr/>
          <p:nvPr/>
        </p:nvSpPr>
        <p:spPr>
          <a:xfrm>
            <a:off x="6461000" y="6260690"/>
            <a:ext cx="5431000" cy="14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310" name="CAction"/>
          <p:cNvSpPr/>
          <p:nvPr/>
        </p:nvSpPr>
        <p:spPr>
          <a:xfrm>
            <a:off x="6461000" y="6300690"/>
            <a:ext cx="5431000" cy="647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940" b="0" i="1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Kiểm tra kỹ trước khi đưa vào stock. Thông báo rõ phí cải tạo cho KH trước khi chốt deal.</a:t>
            </a:r>
          </a:p>
        </p:txBody>
      </p:sp>
      <p:sp>
        <p:nvSpPr>
          <p:cNvPr id="311" name="FBar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312" name="FTx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</a:p>
        </p:txBody>
      </p:sp>
      <p:sp>
        <p:nvSpPr>
          <p:cNvPr id="313" name="FPg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vi-VN" sz="1000" b="0" i="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4" name="RedBar"/>
          <p:cNvSpPr/>
          <p:nvPr/>
        </p:nvSpPr>
        <p:spPr>
          <a:xfrm>
            <a:off x="548640" y="411480"/>
            <a:ext cx="457200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315" name="PhanLbl"/>
          <p:cNvSpPr/>
          <p:nvPr/>
        </p:nvSpPr>
        <p:spPr>
          <a:xfrm>
            <a:off x="109728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1" i="0" kern="0" dirty="0">
                <a:solidFill>
                  <a:srgbClr val="E60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06</a:t>
            </a:r>
          </a:p>
        </p:txBody>
      </p:sp>
      <p:sp>
        <p:nvSpPr>
          <p:cNvPr id="316" name="Title"/>
          <p:cNvSpPr/>
          <p:nvPr/>
        </p:nvSpPr>
        <p:spPr>
          <a:xfrm>
            <a:off x="548640" y="580000"/>
            <a:ext cx="109728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28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 NGAY – Bắt đầu từ hôm nay!</a:t>
            </a:r>
          </a:p>
        </p:txBody>
      </p:sp>
      <p:sp>
        <p:nvSpPr>
          <p:cNvPr id="317" name="Sub"/>
          <p:cNvSpPr/>
          <p:nvPr/>
        </p:nvSpPr>
        <p:spPr>
          <a:xfrm>
            <a:off x="548640" y="1200000"/>
            <a:ext cx="109728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2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Đừng chờ – mỗi ngày không hành động là một cơ hội bị bỏ lỡ</a:t>
            </a:r>
          </a:p>
        </p:txBody>
      </p:sp>
      <p:sp>
        <p:nvSpPr>
          <p:cNvPr id="318" name="AccLine"/>
          <p:cNvSpPr/>
          <p:nvPr/>
        </p:nvSpPr>
        <p:spPr>
          <a:xfrm>
            <a:off x="548640" y="1520000"/>
            <a:ext cx="10972800" cy="18000"/>
          </a:xfrm>
          <a:prstGeom prst="rect">
            <a:avLst/>
          </a:prstGeom>
          <a:solidFill>
            <a:srgbClr val="E8EBF0"/>
          </a:solidFill>
          <a:ln>
            <a:noFill/>
          </a:ln>
        </p:spPr>
      </p:sp>
      <p:sp>
        <p:nvSpPr>
          <p:cNvPr id="319" name="ABg"/>
          <p:cNvSpPr/>
          <p:nvPr/>
        </p:nvSpPr>
        <p:spPr>
          <a:xfrm>
            <a:off x="300000" y="1640000"/>
            <a:ext cx="11592000" cy="8956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144">
            <a:solidFill>
              <a:srgbClr val="E8EBF0"/>
            </a:solidFill>
          </a:ln>
        </p:spPr>
      </p:sp>
      <p:sp>
        <p:nvSpPr>
          <p:cNvPr id="320" name="IBox"/>
          <p:cNvSpPr/>
          <p:nvPr/>
        </p:nvSpPr>
        <p:spPr>
          <a:xfrm>
            <a:off x="300000" y="1640000"/>
            <a:ext cx="460000" cy="8956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321" name="Icon"/>
          <p:cNvSpPr/>
          <p:nvPr/>
        </p:nvSpPr>
        <p:spPr>
          <a:xfrm>
            <a:off x="300000" y="1640000"/>
            <a:ext cx="460000" cy="89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22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</a:p>
        </p:txBody>
      </p:sp>
      <p:sp>
        <p:nvSpPr>
          <p:cNvPr id="322" name="ATitle"/>
          <p:cNvSpPr/>
          <p:nvPr/>
        </p:nvSpPr>
        <p:spPr>
          <a:xfrm>
            <a:off x="880000" y="1700000"/>
            <a:ext cx="10972000" cy="3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3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HIỂU KHO XE NGAY</a:t>
            </a:r>
          </a:p>
        </p:txBody>
      </p:sp>
      <p:sp>
        <p:nvSpPr>
          <p:cNvPr id="323" name="ADesc"/>
          <p:cNvSpPr/>
          <p:nvPr/>
        </p:nvSpPr>
        <p:spPr>
          <a:xfrm>
            <a:off x="880000" y="2038240"/>
            <a:ext cx="10972000" cy="47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8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thuộc 21 điểm về mỗi xe đang có trong kho. Không biết xe → không tư vấn được → không có deal.</a:t>
            </a:r>
          </a:p>
        </p:txBody>
      </p:sp>
      <p:sp>
        <p:nvSpPr>
          <p:cNvPr id="324" name="ABg"/>
          <p:cNvSpPr/>
          <p:nvPr/>
        </p:nvSpPr>
        <p:spPr>
          <a:xfrm>
            <a:off x="300000" y="2615600"/>
            <a:ext cx="11592000" cy="8956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144">
            <a:solidFill>
              <a:srgbClr val="E8EBF0"/>
            </a:solidFill>
          </a:ln>
        </p:spPr>
      </p:sp>
      <p:sp>
        <p:nvSpPr>
          <p:cNvPr id="325" name="IBox"/>
          <p:cNvSpPr/>
          <p:nvPr/>
        </p:nvSpPr>
        <p:spPr>
          <a:xfrm>
            <a:off x="300000" y="2615600"/>
            <a:ext cx="460000" cy="8956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326" name="Icon"/>
          <p:cNvSpPr/>
          <p:nvPr/>
        </p:nvSpPr>
        <p:spPr>
          <a:xfrm>
            <a:off x="300000" y="2615600"/>
            <a:ext cx="460000" cy="89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22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</a:p>
        </p:txBody>
      </p:sp>
      <p:sp>
        <p:nvSpPr>
          <p:cNvPr id="327" name="ATitle"/>
          <p:cNvSpPr/>
          <p:nvPr/>
        </p:nvSpPr>
        <p:spPr>
          <a:xfrm>
            <a:off x="880000" y="2675600"/>
            <a:ext cx="10972000" cy="3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3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XE LÊN TẤT CẢ NỀN TẢNG</a:t>
            </a:r>
          </a:p>
        </p:txBody>
      </p:sp>
      <p:sp>
        <p:nvSpPr>
          <p:cNvPr id="328" name="ADesc"/>
          <p:cNvSpPr/>
          <p:nvPr/>
        </p:nvSpPr>
        <p:spPr>
          <a:xfrm>
            <a:off x="880000" y="3013840"/>
            <a:ext cx="10972000" cy="47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8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ngay lên Chợ Tốt, Bonbanh, Facebook – chọn nhiều khu vực, nhiều tỉnh để tối đa lượng tiếp cận.</a:t>
            </a:r>
          </a:p>
        </p:txBody>
      </p:sp>
      <p:sp>
        <p:nvSpPr>
          <p:cNvPr id="329" name="ABg"/>
          <p:cNvSpPr/>
          <p:nvPr/>
        </p:nvSpPr>
        <p:spPr>
          <a:xfrm>
            <a:off x="300000" y="3591200"/>
            <a:ext cx="11592000" cy="8956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144">
            <a:solidFill>
              <a:srgbClr val="E8EBF0"/>
            </a:solidFill>
          </a:ln>
        </p:spPr>
      </p:sp>
      <p:sp>
        <p:nvSpPr>
          <p:cNvPr id="330" name="IBox"/>
          <p:cNvSpPr/>
          <p:nvPr/>
        </p:nvSpPr>
        <p:spPr>
          <a:xfrm>
            <a:off x="300000" y="3591200"/>
            <a:ext cx="460000" cy="8956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331" name="Icon"/>
          <p:cNvSpPr/>
          <p:nvPr/>
        </p:nvSpPr>
        <p:spPr>
          <a:xfrm>
            <a:off x="300000" y="3591200"/>
            <a:ext cx="460000" cy="89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22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</a:p>
        </p:txBody>
      </p:sp>
      <p:sp>
        <p:nvSpPr>
          <p:cNvPr id="332" name="ATitle"/>
          <p:cNvSpPr/>
          <p:nvPr/>
        </p:nvSpPr>
        <p:spPr>
          <a:xfrm>
            <a:off x="880000" y="3651200"/>
            <a:ext cx="10972000" cy="3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3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KÊNH YOUTUBE / TIKTOK</a:t>
            </a:r>
          </a:p>
        </p:txBody>
      </p:sp>
      <p:sp>
        <p:nvSpPr>
          <p:cNvPr id="333" name="ADesc"/>
          <p:cNvSpPr/>
          <p:nvPr/>
        </p:nvSpPr>
        <p:spPr>
          <a:xfrm>
            <a:off x="880000" y="3989440"/>
            <a:ext cx="10972000" cy="47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8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xe cũ có lượng xem tự nhiên rất lớn – đây là kênh tìm kiếm KH bền vững và miễn phí nhất hiện nay.</a:t>
            </a:r>
          </a:p>
        </p:txBody>
      </p:sp>
      <p:sp>
        <p:nvSpPr>
          <p:cNvPr id="334" name="ABg"/>
          <p:cNvSpPr/>
          <p:nvPr/>
        </p:nvSpPr>
        <p:spPr>
          <a:xfrm>
            <a:off x="300000" y="4566800"/>
            <a:ext cx="11592000" cy="8956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144">
            <a:solidFill>
              <a:srgbClr val="E8EBF0"/>
            </a:solidFill>
          </a:ln>
        </p:spPr>
      </p:sp>
      <p:sp>
        <p:nvSpPr>
          <p:cNvPr id="335" name="IBox"/>
          <p:cNvSpPr/>
          <p:nvPr/>
        </p:nvSpPr>
        <p:spPr>
          <a:xfrm>
            <a:off x="300000" y="4566800"/>
            <a:ext cx="460000" cy="895600"/>
          </a:xfrm>
          <a:prstGeom prst="rect">
            <a:avLst/>
          </a:prstGeom>
          <a:solidFill>
            <a:srgbClr val="1A1F36"/>
          </a:solidFill>
          <a:ln>
            <a:noFill/>
          </a:ln>
        </p:spPr>
      </p:sp>
      <p:sp>
        <p:nvSpPr>
          <p:cNvPr id="336" name="Icon"/>
          <p:cNvSpPr/>
          <p:nvPr/>
        </p:nvSpPr>
        <p:spPr>
          <a:xfrm>
            <a:off x="300000" y="4566800"/>
            <a:ext cx="460000" cy="89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22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</a:p>
        </p:txBody>
      </p:sp>
      <p:sp>
        <p:nvSpPr>
          <p:cNvPr id="337" name="ATitle"/>
          <p:cNvSpPr/>
          <p:nvPr/>
        </p:nvSpPr>
        <p:spPr>
          <a:xfrm>
            <a:off x="880000" y="4626800"/>
            <a:ext cx="10972000" cy="3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3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THÁC DATA KH MUA XE MỚI</a:t>
            </a:r>
          </a:p>
        </p:txBody>
      </p:sp>
      <p:sp>
        <p:nvSpPr>
          <p:cNvPr id="338" name="ADesc"/>
          <p:cNvSpPr/>
          <p:nvPr/>
        </p:nvSpPr>
        <p:spPr>
          <a:xfrm>
            <a:off x="880000" y="4965040"/>
            <a:ext cx="10972000" cy="47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8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lại KH đã mua xe mới – tư vấn Trade-in hoặc xe cũ cho người thân, bạn bè của họ.</a:t>
            </a:r>
          </a:p>
        </p:txBody>
      </p:sp>
      <p:sp>
        <p:nvSpPr>
          <p:cNvPr id="339" name="ABg"/>
          <p:cNvSpPr/>
          <p:nvPr/>
        </p:nvSpPr>
        <p:spPr>
          <a:xfrm>
            <a:off x="300000" y="5542400"/>
            <a:ext cx="11592000" cy="8956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144">
            <a:solidFill>
              <a:srgbClr val="E8EBF0"/>
            </a:solidFill>
          </a:ln>
        </p:spPr>
      </p:sp>
      <p:sp>
        <p:nvSpPr>
          <p:cNvPr id="340" name="IBox"/>
          <p:cNvSpPr/>
          <p:nvPr/>
        </p:nvSpPr>
        <p:spPr>
          <a:xfrm>
            <a:off x="300000" y="5542400"/>
            <a:ext cx="460000" cy="8956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341" name="Icon"/>
          <p:cNvSpPr/>
          <p:nvPr/>
        </p:nvSpPr>
        <p:spPr>
          <a:xfrm>
            <a:off x="300000" y="5542400"/>
            <a:ext cx="460000" cy="89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vi-VN" sz="2200" b="0" i="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</a:p>
        </p:txBody>
      </p:sp>
      <p:sp>
        <p:nvSpPr>
          <p:cNvPr id="342" name="ATitle"/>
          <p:cNvSpPr/>
          <p:nvPr/>
        </p:nvSpPr>
        <p:spPr>
          <a:xfrm>
            <a:off x="880000" y="5602400"/>
            <a:ext cx="10972000" cy="3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vi-VN" sz="1300" b="1" i="0" kern="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THUỘC 7 CAM KẾT &amp; 3B</a:t>
            </a:r>
          </a:p>
        </p:txBody>
      </p:sp>
      <p:sp>
        <p:nvSpPr>
          <p:cNvPr id="343" name="ADesc"/>
          <p:cNvSpPr/>
          <p:nvPr/>
        </p:nvSpPr>
        <p:spPr>
          <a:xfrm>
            <a:off x="880000" y="5940640"/>
            <a:ext cx="10972000" cy="47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vi-VN" sz="108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 lòng 7 cam kết và chính sách 3B (Bảo hành · Bảo vệ giá · Bảo tín) – vũ khí tư vấn mạnh nhất.</a:t>
            </a:r>
          </a:p>
        </p:txBody>
      </p:sp>
      <p:sp>
        <p:nvSpPr>
          <p:cNvPr id="344" name="FBar"/>
          <p:cNvSpPr/>
          <p:nvPr/>
        </p:nvSpPr>
        <p:spPr>
          <a:xfrm>
            <a:off x="365760" y="6446520"/>
            <a:ext cx="91440" cy="27432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345" name="FTx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vi-VN" sz="1000" b="0" i="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TÂY NINH  ·  Kỹ năng Bán hàng Xe đã qua sử dụng</a:t>
            </a:r>
          </a:p>
        </p:txBody>
      </p:sp>
      <p:sp>
        <p:nvSpPr>
          <p:cNvPr id="346" name="FPg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vi-VN" sz="1000" b="0" i="0" kern="0" dirty="0">
                <a:solidFill>
                  <a:srgbClr val="B8B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Đào tạo Xe ĐQSD - Mitsubishi Tây Ninh</dc:title>
  <dc:subject>PptxGenJS Presentation</dc:subject>
  <dc:creator>PptxGenJS</dc:creator>
  <cp:lastModifiedBy>PptxGenJS</cp:lastModifiedBy>
  <cp:revision>1</cp:revision>
  <dcterms:created xsi:type="dcterms:W3CDTF">2026-05-01T03:58:37Z</dcterms:created>
  <dcterms:modified xsi:type="dcterms:W3CDTF">2026-05-01T03:58:37Z</dcterms:modified>
</cp:coreProperties>
</file>