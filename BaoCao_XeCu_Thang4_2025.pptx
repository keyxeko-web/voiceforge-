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Mục tiêu vs Thực hiện (xe)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Mục tiêu</c:v>
                </c:pt>
              </c:strCache>
            </c:strRef>
          </c:tx>
          <c:spPr>
            <a:solidFill>
              <a:srgbClr val="BFBFBF"/>
            </a:solidFill>
          </c:spPr>
          <c:cat>
            <c:strRef>
              <c:f>Sheet1!$A$2:$A$5</c:f>
              <c:strCache>
                <c:ptCount val="4"/>
                <c:pt idx="0">
                  <c:v>Tuần 1</c:v>
                </c:pt>
                <c:pt idx="1">
                  <c:v>Tuần 2</c:v>
                </c:pt>
                <c:pt idx="2">
                  <c:v>Tuần 3</c:v>
                </c:pt>
                <c:pt idx="3">
                  <c:v>Tuần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2</c:v>
                </c:pt>
                <c:pt idx="3">
                  <c:v>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Thực hiện</c:v>
                </c:pt>
              </c:strCache>
            </c:strRef>
          </c:tx>
          <c:spPr>
            <a:solidFill>
              <a:srgbClr val="C00000"/>
            </a:solidFill>
          </c:spPr>
          <c:cat>
            <c:strRef>
              <c:f>Sheet1!$A$2:$A$5</c:f>
              <c:strCache>
                <c:ptCount val="4"/>
                <c:pt idx="0">
                  <c:v>Tuần 1</c:v>
                </c:pt>
                <c:pt idx="1">
                  <c:v>Tuần 2</c:v>
                </c:pt>
                <c:pt idx="2">
                  <c:v>Tuần 3</c:v>
                </c:pt>
                <c:pt idx="3">
                  <c:v>Tuần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Tỷ lệ hoàn thành (%)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% Hoàn thành</c:v>
                </c:pt>
              </c:strCache>
            </c:strRef>
          </c:tx>
          <c:spPr>
            <a:solidFill>
              <a:srgbClr val="00509F"/>
            </a:solidFill>
          </c:spPr>
          <c:cat>
            <c:strRef>
              <c:f>Sheet1!$A$2:$A$5</c:f>
              <c:strCache>
                <c:ptCount val="4"/>
                <c:pt idx="0">
                  <c:v>Tuần 1</c:v>
                </c:pt>
                <c:pt idx="1">
                  <c:v>Tuần 2</c:v>
                </c:pt>
                <c:pt idx="2">
                  <c:v>Tuần 3</c:v>
                </c:pt>
                <c:pt idx="3">
                  <c:v>Tuần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Thu xe vs Bán xe theo dòng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Thu trong tháng</c:v>
                </c:pt>
              </c:strCache>
            </c:strRef>
          </c:tx>
          <c:spPr>
            <a:solidFill>
              <a:srgbClr val="00509F"/>
            </a:solidFill>
          </c:spPr>
          <c:cat>
            <c:strRef>
              <c:f>Sheet1!$A$2:$A$7</c:f>
              <c:strCache>
                <c:ptCount val="6"/>
                <c:pt idx="0">
                  <c:v>Attrage</c:v>
                </c:pt>
                <c:pt idx="1">
                  <c:v>Xpander</c:v>
                </c:pt>
                <c:pt idx="2">
                  <c:v>Xforce</c:v>
                </c:pt>
                <c:pt idx="3">
                  <c:v>Outlander</c:v>
                </c:pt>
                <c:pt idx="4">
                  <c:v>Triton</c:v>
                </c:pt>
                <c:pt idx="5">
                  <c:v>Pajero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</c:v>
                </c:pt>
                <c:pt idx="1">
                  <c:v>4</c:v>
                </c:pt>
                <c:pt idx="2">
                  <c:v>2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Đã lên HĐ</c:v>
                </c:pt>
              </c:strCache>
            </c:strRef>
          </c:tx>
          <c:spPr>
            <a:solidFill>
              <a:srgbClr val="007050"/>
            </a:solidFill>
          </c:spPr>
          <c:cat>
            <c:strRef>
              <c:f>Sheet1!$A$2:$A$7</c:f>
              <c:strCache>
                <c:ptCount val="6"/>
                <c:pt idx="0">
                  <c:v>Attrage</c:v>
                </c:pt>
                <c:pt idx="1">
                  <c:v>Xpander</c:v>
                </c:pt>
                <c:pt idx="2">
                  <c:v>Xforce</c:v>
                </c:pt>
                <c:pt idx="3">
                  <c:v>Outlander</c:v>
                </c:pt>
                <c:pt idx="4">
                  <c:v>Triton</c:v>
                </c:pt>
                <c:pt idx="5">
                  <c:v>Pajero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3</c:v>
                </c:pt>
                <c:pt idx="1">
                  <c:v>2</c:v>
                </c:pt>
                <c:pt idx="2">
                  <c:v>2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t>Tỷ lệ HĐ theo dòng xe (7 HĐ)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Tỷ lệ HĐ</c:v>
                </c:pt>
              </c:strCache>
            </c:strRef>
          </c:tx>
          <c:spPr>
            <a:solidFill/>
          </c:spPr>
          <c:cat>
            <c:strRef>
              <c:f>Sheet1!$A$2:$A$4</c:f>
              <c:strCache>
                <c:ptCount val="3"/>
                <c:pt idx="0">
                  <c:v>Attrage</c:v>
                </c:pt>
                <c:pt idx="1">
                  <c:v>Xpander</c:v>
                </c:pt>
                <c:pt idx="2">
                  <c:v>Xforce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</c:v>
                </c:pt>
                <c:pt idx="1">
                  <c:v>2</c:v>
                </c:pt>
                <c:pt idx="2">
                  <c:v>2</c:v>
                </c:pt>
              </c:numCache>
            </c:numRef>
          </c:val>
        </c:ser>
      </c:pieChart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Relationship Id="rId3" Type="http://schemas.openxmlformats.org/officeDocument/2006/relationships/chart" Target="../charts/chart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3601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</a:rPr>
              <a:t>BÁO CÁO KINH DOANH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651760"/>
            <a:ext cx="103601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D700"/>
                </a:solidFill>
              </a:rPr>
              <a:t>XE QUA SỬ DỤNG — THÁNG 4/2025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56616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2F2F2"/>
                </a:solidFill>
              </a:rPr>
              <a:t>Đơn vị: MTN  |  Bộ phận: Kinh doanh xe cũ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02920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BFBFBF"/>
                </a:solidFill>
              </a:rPr>
              <a:t>Người lập báo cáo: Quản lý Kinh doanh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91440"/>
            <a:ext cx="1179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TỔNG QUAN KẾT QUẢ THÁNG 4/2025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822960"/>
            <a:ext cx="2103120" cy="2194560"/>
          </a:xfrm>
          <a:prstGeom prst="rect">
            <a:avLst/>
          </a:prstGeom>
          <a:solidFill>
            <a:srgbClr val="0050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05840"/>
            <a:ext cx="2103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011680"/>
            <a:ext cx="2103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Tồn đầu kỳ
(xe)</a:t>
            </a:r>
          </a:p>
        </p:txBody>
      </p:sp>
      <p:sp>
        <p:nvSpPr>
          <p:cNvPr id="7" name="Rectangle 6"/>
          <p:cNvSpPr/>
          <p:nvPr/>
        </p:nvSpPr>
        <p:spPr>
          <a:xfrm>
            <a:off x="2633472" y="822960"/>
            <a:ext cx="2103120" cy="219456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633472" y="1005840"/>
            <a:ext cx="2103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 i="0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33472" y="2011680"/>
            <a:ext cx="2103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Xe thu
trong tháng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4901184" y="822960"/>
            <a:ext cx="2103120" cy="2194560"/>
          </a:xfrm>
          <a:prstGeom prst="rect">
            <a:avLst/>
          </a:prstGeom>
          <a:solidFill>
            <a:srgbClr val="007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01184" y="1005840"/>
            <a:ext cx="2103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 i="0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01184" y="2011680"/>
            <a:ext cx="2103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Xe đã lên
hợp đồng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168896" y="822960"/>
            <a:ext cx="2103120" cy="2194560"/>
          </a:xfrm>
          <a:prstGeom prst="rect">
            <a:avLst/>
          </a:prstGeom>
          <a:solidFill>
            <a:srgbClr val="FF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68896" y="1005840"/>
            <a:ext cx="2103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 i="0">
                <a:solidFill>
                  <a:srgbClr val="FFFFFF"/>
                </a:solidFill>
              </a:rPr>
              <a:t>38%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68896" y="2011680"/>
            <a:ext cx="2103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Tỷ lệ
thực hiện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436608" y="822960"/>
            <a:ext cx="2103120" cy="219456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36608" y="1005840"/>
            <a:ext cx="2103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36608" y="2011680"/>
            <a:ext cx="2103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Xe tồn kho
cuối tháng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3246120"/>
            <a:ext cx="11430000" cy="73152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338328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8B0000"/>
                </a:solidFill>
              </a:rPr>
              <a:t>⚠  Tỷ lệ hoàn thành chỉ đạt 38% so với mục tiêu 8 xe — chủ yếu do Tuần 2, 3, 4 không thu được xe mới.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393192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7050"/>
                </a:solidFill>
              </a:rPr>
              <a:t>✅  Điểm sáng: Attrage dẫn đầu với 3 HĐ | Xforce mới thu đã bán ngay 2 xe | Sale H. Vũ Lộc hiệu quả cao.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91440"/>
            <a:ext cx="1179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KẾT QUẢ THU XE THEO TUẦN — THÁNG 4/2025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77240"/>
            <a:ext cx="1463040" cy="530352"/>
          </a:xfrm>
          <a:prstGeom prst="rect">
            <a:avLst/>
          </a:prstGeom>
          <a:solidFill>
            <a:srgbClr val="C00000"/>
          </a:solidFill>
          <a:ln w="635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01751" y="786384"/>
            <a:ext cx="1408176" cy="5120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TUẦN</a:t>
            </a:r>
          </a:p>
        </p:txBody>
      </p:sp>
      <p:sp>
        <p:nvSpPr>
          <p:cNvPr id="6" name="Rectangle 5"/>
          <p:cNvSpPr/>
          <p:nvPr/>
        </p:nvSpPr>
        <p:spPr>
          <a:xfrm>
            <a:off x="1737360" y="777240"/>
            <a:ext cx="1554480" cy="530352"/>
          </a:xfrm>
          <a:prstGeom prst="rect">
            <a:avLst/>
          </a:prstGeom>
          <a:solidFill>
            <a:srgbClr val="C00000"/>
          </a:solidFill>
          <a:ln w="635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764792" y="786384"/>
            <a:ext cx="1499616" cy="5120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TỒN ĐẦU KỲ</a:t>
            </a:r>
          </a:p>
        </p:txBody>
      </p:sp>
      <p:sp>
        <p:nvSpPr>
          <p:cNvPr id="8" name="Rectangle 7"/>
          <p:cNvSpPr/>
          <p:nvPr/>
        </p:nvSpPr>
        <p:spPr>
          <a:xfrm>
            <a:off x="3291840" y="777240"/>
            <a:ext cx="1737360" cy="530352"/>
          </a:xfrm>
          <a:prstGeom prst="rect">
            <a:avLst/>
          </a:prstGeom>
          <a:solidFill>
            <a:srgbClr val="C00000"/>
          </a:solidFill>
          <a:ln w="635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19272" y="786384"/>
            <a:ext cx="1682495" cy="5120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MỤC TIÊU
THU XE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777240"/>
            <a:ext cx="1737360" cy="530352"/>
          </a:xfrm>
          <a:prstGeom prst="rect">
            <a:avLst/>
          </a:prstGeom>
          <a:solidFill>
            <a:srgbClr val="C00000"/>
          </a:solidFill>
          <a:ln w="635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56632" y="786384"/>
            <a:ext cx="1682495" cy="5120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SỐ XE
THỰC HIỆN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766560" y="777240"/>
            <a:ext cx="1645920" cy="530352"/>
          </a:xfrm>
          <a:prstGeom prst="rect">
            <a:avLst/>
          </a:prstGeom>
          <a:solidFill>
            <a:srgbClr val="C00000"/>
          </a:solidFill>
          <a:ln w="635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93992" y="786384"/>
            <a:ext cx="1591056" cy="5120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% THỰC HIỆN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412480" y="777240"/>
            <a:ext cx="2743200" cy="530352"/>
          </a:xfrm>
          <a:prstGeom prst="rect">
            <a:avLst/>
          </a:prstGeom>
          <a:solidFill>
            <a:srgbClr val="C00000"/>
          </a:solidFill>
          <a:ln w="635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39912" y="786384"/>
            <a:ext cx="2688336" cy="5120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GHI CHÚ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1307592"/>
            <a:ext cx="1463040" cy="530352"/>
          </a:xfrm>
          <a:prstGeom prst="rect">
            <a:avLst/>
          </a:prstGeom>
          <a:solidFill>
            <a:srgbClr val="F2F2F2"/>
          </a:solidFill>
          <a:ln w="635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1751" y="1316736"/>
            <a:ext cx="1408176" cy="5120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0000"/>
                </a:solidFill>
              </a:rPr>
              <a:t>TUẦN 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737360" y="1307592"/>
            <a:ext cx="1554480" cy="530352"/>
          </a:xfrm>
          <a:prstGeom prst="rect">
            <a:avLst/>
          </a:prstGeom>
          <a:solidFill>
            <a:srgbClr val="F2F2F2"/>
          </a:solidFill>
          <a:ln w="635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764792" y="1316736"/>
            <a:ext cx="1499616" cy="5120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00000"/>
                </a:solidFill>
              </a:rPr>
              <a:t>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91840" y="1307592"/>
            <a:ext cx="1737360" cy="530352"/>
          </a:xfrm>
          <a:prstGeom prst="rect">
            <a:avLst/>
          </a:prstGeom>
          <a:solidFill>
            <a:srgbClr val="F2F2F2"/>
          </a:solidFill>
          <a:ln w="635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319272" y="1316736"/>
            <a:ext cx="1682495" cy="5120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00000"/>
                </a:solidFill>
              </a:rPr>
              <a:t>2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0" y="1307592"/>
            <a:ext cx="1737360" cy="530352"/>
          </a:xfrm>
          <a:prstGeom prst="rect">
            <a:avLst/>
          </a:prstGeom>
          <a:solidFill>
            <a:srgbClr val="F2F2F2"/>
          </a:solidFill>
          <a:ln w="635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56632" y="1316736"/>
            <a:ext cx="1682495" cy="5120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00000"/>
                </a:solidFill>
              </a:rPr>
              <a:t>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766560" y="1307592"/>
            <a:ext cx="1645920" cy="530352"/>
          </a:xfrm>
          <a:prstGeom prst="rect">
            <a:avLst/>
          </a:prstGeom>
          <a:solidFill>
            <a:srgbClr val="007050"/>
          </a:solidFill>
          <a:ln w="635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93992" y="1316736"/>
            <a:ext cx="1591056" cy="5120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100%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412480" y="1307592"/>
            <a:ext cx="2743200" cy="530352"/>
          </a:xfrm>
          <a:prstGeom prst="rect">
            <a:avLst/>
          </a:prstGeom>
          <a:solidFill>
            <a:srgbClr val="F2F2F2"/>
          </a:solidFill>
          <a:ln w="635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39912" y="1316736"/>
            <a:ext cx="2688336" cy="5120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</a:rPr>
              <a:t>Đạt mục tiêu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1837943"/>
            <a:ext cx="146304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01751" y="1847087"/>
            <a:ext cx="1408176" cy="5120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0000"/>
                </a:solidFill>
              </a:rPr>
              <a:t>TUẦN 2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737360" y="1837943"/>
            <a:ext cx="155448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764792" y="1847087"/>
            <a:ext cx="1499616" cy="5120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00000"/>
                </a:solidFill>
              </a:rPr>
              <a:t/>
            </a:r>
          </a:p>
        </p:txBody>
      </p:sp>
      <p:sp>
        <p:nvSpPr>
          <p:cNvPr id="32" name="Rectangle 31"/>
          <p:cNvSpPr/>
          <p:nvPr/>
        </p:nvSpPr>
        <p:spPr>
          <a:xfrm>
            <a:off x="3291840" y="1837943"/>
            <a:ext cx="173736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319272" y="1847087"/>
            <a:ext cx="1682495" cy="5120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00000"/>
                </a:solidFill>
              </a:rPr>
              <a:t>2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29200" y="1837943"/>
            <a:ext cx="173736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56632" y="1847087"/>
            <a:ext cx="1682495" cy="5120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00000"/>
                </a:solidFill>
              </a:rPr>
              <a:t>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766560" y="1837943"/>
            <a:ext cx="1645920" cy="530352"/>
          </a:xfrm>
          <a:prstGeom prst="rect">
            <a:avLst/>
          </a:prstGeom>
          <a:solidFill>
            <a:srgbClr val="C00000"/>
          </a:solidFill>
          <a:ln w="635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93992" y="1847087"/>
            <a:ext cx="1591056" cy="5120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0%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412480" y="1837943"/>
            <a:ext cx="274320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439912" y="1847087"/>
            <a:ext cx="2688336" cy="5120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</a:rPr>
              <a:t>Không thu được xe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74320" y="2368296"/>
            <a:ext cx="1463040" cy="530352"/>
          </a:xfrm>
          <a:prstGeom prst="rect">
            <a:avLst/>
          </a:prstGeom>
          <a:solidFill>
            <a:srgbClr val="F2F2F2"/>
          </a:solidFill>
          <a:ln w="635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01751" y="2377439"/>
            <a:ext cx="1408176" cy="5120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0000"/>
                </a:solidFill>
              </a:rPr>
              <a:t>TUẦN 3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737360" y="2368296"/>
            <a:ext cx="1554480" cy="530352"/>
          </a:xfrm>
          <a:prstGeom prst="rect">
            <a:avLst/>
          </a:prstGeom>
          <a:solidFill>
            <a:srgbClr val="F2F2F2"/>
          </a:solidFill>
          <a:ln w="635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764792" y="2377439"/>
            <a:ext cx="1499616" cy="5120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00000"/>
                </a:solidFill>
              </a:rPr>
              <a:t/>
            </a:r>
          </a:p>
        </p:txBody>
      </p:sp>
      <p:sp>
        <p:nvSpPr>
          <p:cNvPr id="44" name="Rectangle 43"/>
          <p:cNvSpPr/>
          <p:nvPr/>
        </p:nvSpPr>
        <p:spPr>
          <a:xfrm>
            <a:off x="3291840" y="2368296"/>
            <a:ext cx="1737360" cy="530352"/>
          </a:xfrm>
          <a:prstGeom prst="rect">
            <a:avLst/>
          </a:prstGeom>
          <a:solidFill>
            <a:srgbClr val="F2F2F2"/>
          </a:solidFill>
          <a:ln w="635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319272" y="2377439"/>
            <a:ext cx="1682495" cy="5120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00000"/>
                </a:solidFill>
              </a:rPr>
              <a:t>2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029200" y="2368296"/>
            <a:ext cx="1737360" cy="530352"/>
          </a:xfrm>
          <a:prstGeom prst="rect">
            <a:avLst/>
          </a:prstGeom>
          <a:solidFill>
            <a:srgbClr val="F2F2F2"/>
          </a:solidFill>
          <a:ln w="635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056632" y="2377439"/>
            <a:ext cx="1682495" cy="5120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00000"/>
                </a:solidFill>
              </a:rPr>
              <a:t>0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766560" y="2368296"/>
            <a:ext cx="1645920" cy="530352"/>
          </a:xfrm>
          <a:prstGeom prst="rect">
            <a:avLst/>
          </a:prstGeom>
          <a:solidFill>
            <a:srgbClr val="C00000"/>
          </a:solidFill>
          <a:ln w="635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793992" y="2377439"/>
            <a:ext cx="1591056" cy="5120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0%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412480" y="2368296"/>
            <a:ext cx="2743200" cy="530352"/>
          </a:xfrm>
          <a:prstGeom prst="rect">
            <a:avLst/>
          </a:prstGeom>
          <a:solidFill>
            <a:srgbClr val="F2F2F2"/>
          </a:solidFill>
          <a:ln w="635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439912" y="2377439"/>
            <a:ext cx="2688336" cy="5120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</a:rPr>
              <a:t>Không thu được xe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74320" y="2898648"/>
            <a:ext cx="146304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01751" y="2907791"/>
            <a:ext cx="1408176" cy="5120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0000"/>
                </a:solidFill>
              </a:rPr>
              <a:t>TUẦN 4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737360" y="2898648"/>
            <a:ext cx="155448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764792" y="2907791"/>
            <a:ext cx="1499616" cy="5120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00000"/>
                </a:solidFill>
              </a:rPr>
              <a:t/>
            </a:r>
          </a:p>
        </p:txBody>
      </p:sp>
      <p:sp>
        <p:nvSpPr>
          <p:cNvPr id="56" name="Rectangle 55"/>
          <p:cNvSpPr/>
          <p:nvPr/>
        </p:nvSpPr>
        <p:spPr>
          <a:xfrm>
            <a:off x="3291840" y="2898648"/>
            <a:ext cx="173736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319272" y="2907791"/>
            <a:ext cx="1682495" cy="5120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00000"/>
                </a:solidFill>
              </a:rPr>
              <a:t>2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029200" y="2898648"/>
            <a:ext cx="173736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056632" y="2907791"/>
            <a:ext cx="1682495" cy="5120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00000"/>
                </a:solidFill>
              </a:rPr>
              <a:t>0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766560" y="2898648"/>
            <a:ext cx="1645920" cy="530352"/>
          </a:xfrm>
          <a:prstGeom prst="rect">
            <a:avLst/>
          </a:prstGeom>
          <a:solidFill>
            <a:srgbClr val="C00000"/>
          </a:solidFill>
          <a:ln w="635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793992" y="2907791"/>
            <a:ext cx="1591056" cy="5120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0%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412480" y="2898648"/>
            <a:ext cx="274320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439912" y="2907791"/>
            <a:ext cx="2688336" cy="5120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</a:rPr>
              <a:t>Không thu được xe</a:t>
            </a:r>
          </a:p>
        </p:txBody>
      </p:sp>
      <p:sp>
        <p:nvSpPr>
          <p:cNvPr id="64" name="Rectangle 63"/>
          <p:cNvSpPr/>
          <p:nvPr/>
        </p:nvSpPr>
        <p:spPr>
          <a:xfrm>
            <a:off x="274320" y="3429000"/>
            <a:ext cx="1463040" cy="530352"/>
          </a:xfrm>
          <a:prstGeom prst="rect">
            <a:avLst/>
          </a:prstGeom>
          <a:solidFill>
            <a:srgbClr val="FFD700"/>
          </a:solidFill>
          <a:ln w="635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01751" y="3438144"/>
            <a:ext cx="1408176" cy="5120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0000"/>
                </a:solidFill>
              </a:rPr>
              <a:t>TỔNG CỘNG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737360" y="3429000"/>
            <a:ext cx="1554480" cy="530352"/>
          </a:xfrm>
          <a:prstGeom prst="rect">
            <a:avLst/>
          </a:prstGeom>
          <a:solidFill>
            <a:srgbClr val="FFD700"/>
          </a:solidFill>
          <a:ln w="635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764792" y="3438144"/>
            <a:ext cx="1499616" cy="5120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0000"/>
                </a:solidFill>
              </a:rPr>
              <a:t>1</a:t>
            </a:r>
          </a:p>
        </p:txBody>
      </p:sp>
      <p:sp>
        <p:nvSpPr>
          <p:cNvPr id="68" name="Rectangle 67"/>
          <p:cNvSpPr/>
          <p:nvPr/>
        </p:nvSpPr>
        <p:spPr>
          <a:xfrm>
            <a:off x="3291840" y="3429000"/>
            <a:ext cx="1737360" cy="530352"/>
          </a:xfrm>
          <a:prstGeom prst="rect">
            <a:avLst/>
          </a:prstGeom>
          <a:solidFill>
            <a:srgbClr val="FFD700"/>
          </a:solidFill>
          <a:ln w="635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3319272" y="3438144"/>
            <a:ext cx="1682495" cy="5120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0000"/>
                </a:solidFill>
              </a:rPr>
              <a:t>8</a:t>
            </a:r>
          </a:p>
        </p:txBody>
      </p:sp>
      <p:sp>
        <p:nvSpPr>
          <p:cNvPr id="70" name="Rectangle 69"/>
          <p:cNvSpPr/>
          <p:nvPr/>
        </p:nvSpPr>
        <p:spPr>
          <a:xfrm>
            <a:off x="5029200" y="3429000"/>
            <a:ext cx="1737360" cy="530352"/>
          </a:xfrm>
          <a:prstGeom prst="rect">
            <a:avLst/>
          </a:prstGeom>
          <a:solidFill>
            <a:srgbClr val="FFD700"/>
          </a:solidFill>
          <a:ln w="635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5056632" y="3438144"/>
            <a:ext cx="1682495" cy="5120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0000"/>
                </a:solidFill>
              </a:rPr>
              <a:t>3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766560" y="3429000"/>
            <a:ext cx="1645920" cy="530352"/>
          </a:xfrm>
          <a:prstGeom prst="rect">
            <a:avLst/>
          </a:prstGeom>
          <a:solidFill>
            <a:srgbClr val="FF8000"/>
          </a:solidFill>
          <a:ln w="635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793992" y="3438144"/>
            <a:ext cx="1591056" cy="5120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38%</a:t>
            </a:r>
          </a:p>
        </p:txBody>
      </p:sp>
      <p:sp>
        <p:nvSpPr>
          <p:cNvPr id="74" name="Rectangle 73"/>
          <p:cNvSpPr/>
          <p:nvPr/>
        </p:nvSpPr>
        <p:spPr>
          <a:xfrm>
            <a:off x="8412480" y="3429000"/>
            <a:ext cx="2743200" cy="530352"/>
          </a:xfrm>
          <a:prstGeom prst="rect">
            <a:avLst/>
          </a:prstGeom>
          <a:solidFill>
            <a:srgbClr val="FFD700"/>
          </a:solidFill>
          <a:ln w="635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8439912" y="3438144"/>
            <a:ext cx="2688336" cy="5120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0000"/>
                </a:solidFill>
              </a:rPr>
              <a:t>1 Xpander Cross 2024 còn tồn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91440"/>
            <a:ext cx="1179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BIỂU ĐỒ THU XE THEO TUẦN — THÁNG 4/2025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" y="777240"/>
          <a:ext cx="6858000" cy="5303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7589520" y="777240"/>
          <a:ext cx="4389120" cy="53035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91440"/>
            <a:ext cx="1179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DOANH SỐ THEO DÒNG XE — THÁNG 4/2025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" y="777240"/>
            <a:ext cx="1463040" cy="566928"/>
          </a:xfrm>
          <a:prstGeom prst="rect">
            <a:avLst/>
          </a:prstGeom>
          <a:solidFill>
            <a:srgbClr val="C00000"/>
          </a:solidFill>
          <a:ln w="635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" y="786384"/>
            <a:ext cx="140817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DÒNG XE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777240"/>
            <a:ext cx="1371600" cy="566928"/>
          </a:xfrm>
          <a:prstGeom prst="rect">
            <a:avLst/>
          </a:prstGeom>
          <a:solidFill>
            <a:srgbClr val="C00000"/>
          </a:solidFill>
          <a:ln w="635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7632" y="786384"/>
            <a:ext cx="131673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TỒN ĐẦU KỲ</a:t>
            </a:r>
          </a:p>
        </p:txBody>
      </p:sp>
      <p:sp>
        <p:nvSpPr>
          <p:cNvPr id="8" name="Rectangle 7"/>
          <p:cNvSpPr/>
          <p:nvPr/>
        </p:nvSpPr>
        <p:spPr>
          <a:xfrm>
            <a:off x="2971800" y="777240"/>
            <a:ext cx="1463040" cy="566928"/>
          </a:xfrm>
          <a:prstGeom prst="rect">
            <a:avLst/>
          </a:prstGeom>
          <a:solidFill>
            <a:srgbClr val="C00000"/>
          </a:solidFill>
          <a:ln w="635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99232" y="786384"/>
            <a:ext cx="140817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XE THU
TRONG THÁNG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34840" y="777240"/>
            <a:ext cx="1371600" cy="566928"/>
          </a:xfrm>
          <a:prstGeom prst="rect">
            <a:avLst/>
          </a:prstGeom>
          <a:solidFill>
            <a:srgbClr val="C00000"/>
          </a:solidFill>
          <a:ln w="635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62272" y="786384"/>
            <a:ext cx="131673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ĐÃ LÊN
HỢP ĐỒNG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806440" y="777240"/>
            <a:ext cx="1371600" cy="566928"/>
          </a:xfrm>
          <a:prstGeom prst="rect">
            <a:avLst/>
          </a:prstGeom>
          <a:solidFill>
            <a:srgbClr val="C00000"/>
          </a:solidFill>
          <a:ln w="635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33872" y="786384"/>
            <a:ext cx="131673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TỒN KHO
CUỐI THÁNG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78040" y="777240"/>
            <a:ext cx="3200400" cy="566928"/>
          </a:xfrm>
          <a:prstGeom prst="rect">
            <a:avLst/>
          </a:prstGeom>
          <a:solidFill>
            <a:srgbClr val="C00000"/>
          </a:solidFill>
          <a:ln w="635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05472" y="786384"/>
            <a:ext cx="314553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CHI TIẾT HỢP ĐỒNG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378440" y="777240"/>
            <a:ext cx="1463040" cy="566928"/>
          </a:xfrm>
          <a:prstGeom prst="rect">
            <a:avLst/>
          </a:prstGeom>
          <a:solidFill>
            <a:srgbClr val="C00000"/>
          </a:solidFill>
          <a:ln w="635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405872" y="786384"/>
            <a:ext cx="140817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SALE PHỤ TRÁCH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37160" y="1344168"/>
            <a:ext cx="1463040" cy="566928"/>
          </a:xfrm>
          <a:prstGeom prst="rect">
            <a:avLst/>
          </a:prstGeom>
          <a:solidFill>
            <a:srgbClr val="F2F2F2"/>
          </a:solidFill>
          <a:ln w="635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4592" y="1353312"/>
            <a:ext cx="140817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0000"/>
                </a:solidFill>
              </a:rPr>
              <a:t>Attrage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600200" y="1344168"/>
            <a:ext cx="1371600" cy="566928"/>
          </a:xfrm>
          <a:prstGeom prst="rect">
            <a:avLst/>
          </a:prstGeom>
          <a:solidFill>
            <a:srgbClr val="F2F2F2"/>
          </a:solidFill>
          <a:ln w="635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627632" y="1353312"/>
            <a:ext cx="131673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</a:rPr>
              <a:t>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971800" y="1344168"/>
            <a:ext cx="1463040" cy="566928"/>
          </a:xfrm>
          <a:prstGeom prst="rect">
            <a:avLst/>
          </a:prstGeom>
          <a:solidFill>
            <a:srgbClr val="F2F2F2"/>
          </a:solidFill>
          <a:ln w="635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999232" y="1353312"/>
            <a:ext cx="140817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</a:rPr>
              <a:t>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434840" y="1344168"/>
            <a:ext cx="1371600" cy="566928"/>
          </a:xfrm>
          <a:prstGeom prst="rect">
            <a:avLst/>
          </a:prstGeom>
          <a:solidFill>
            <a:srgbClr val="E2EFDA"/>
          </a:solidFill>
          <a:ln w="635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62272" y="1353312"/>
            <a:ext cx="131673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</a:rPr>
              <a:t>3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806440" y="1344168"/>
            <a:ext cx="1371600" cy="566928"/>
          </a:xfrm>
          <a:prstGeom prst="rect">
            <a:avLst/>
          </a:prstGeom>
          <a:solidFill>
            <a:srgbClr val="F2F2F2"/>
          </a:solidFill>
          <a:ln w="635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833872" y="1353312"/>
            <a:ext cx="131673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</a:rPr>
              <a:t>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178040" y="1344168"/>
            <a:ext cx="3200400" cy="566928"/>
          </a:xfrm>
          <a:prstGeom prst="rect">
            <a:avLst/>
          </a:prstGeom>
          <a:solidFill>
            <a:srgbClr val="F2F2F2"/>
          </a:solidFill>
          <a:ln w="635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205472" y="1353312"/>
            <a:ext cx="314553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</a:rPr>
              <a:t>Attrage CVT đỏ 2021
Attrage MT trắng 2021
Attrage MT xám 2022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378440" y="1344168"/>
            <a:ext cx="1463040" cy="566928"/>
          </a:xfrm>
          <a:prstGeom prst="rect">
            <a:avLst/>
          </a:prstGeom>
          <a:solidFill>
            <a:srgbClr val="F2F2F2"/>
          </a:solidFill>
          <a:ln w="635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405872" y="1353312"/>
            <a:ext cx="140817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</a:rPr>
              <a:t>Nam Châm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37160" y="1911095"/>
            <a:ext cx="146304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64592" y="1920239"/>
            <a:ext cx="140817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0000"/>
                </a:solidFill>
              </a:rPr>
              <a:t>Xpander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600200" y="1911095"/>
            <a:ext cx="13716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627632" y="1920239"/>
            <a:ext cx="131673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</a:rPr>
              <a:t>2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971800" y="1911095"/>
            <a:ext cx="146304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999232" y="1920239"/>
            <a:ext cx="140817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</a:rPr>
              <a:t>4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434840" y="1911095"/>
            <a:ext cx="1371600" cy="566928"/>
          </a:xfrm>
          <a:prstGeom prst="rect">
            <a:avLst/>
          </a:prstGeom>
          <a:solidFill>
            <a:srgbClr val="E2EFDA"/>
          </a:solidFill>
          <a:ln w="635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462272" y="1920239"/>
            <a:ext cx="131673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</a:rPr>
              <a:t>2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806440" y="1911095"/>
            <a:ext cx="1371600" cy="566928"/>
          </a:xfrm>
          <a:prstGeom prst="rect">
            <a:avLst/>
          </a:prstGeom>
          <a:solidFill>
            <a:srgbClr val="FFF0E0"/>
          </a:solidFill>
          <a:ln w="635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833872" y="1920239"/>
            <a:ext cx="131673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</a:rPr>
              <a:t>4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178040" y="1911095"/>
            <a:ext cx="32004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205472" y="1920239"/>
            <a:ext cx="314553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</a:rPr>
              <a:t>Xpander Cross Nâu 2024
Xpander AT Trắng 2021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0378440" y="1911095"/>
            <a:ext cx="146304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405872" y="1920239"/>
            <a:ext cx="140817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</a:rPr>
              <a:t>Chậm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37160" y="2478024"/>
            <a:ext cx="1463040" cy="566928"/>
          </a:xfrm>
          <a:prstGeom prst="rect">
            <a:avLst/>
          </a:prstGeom>
          <a:solidFill>
            <a:srgbClr val="F2F2F2"/>
          </a:solidFill>
          <a:ln w="635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64592" y="2487168"/>
            <a:ext cx="140817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0000"/>
                </a:solidFill>
              </a:rPr>
              <a:t>Xforce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600200" y="2478024"/>
            <a:ext cx="1371600" cy="566928"/>
          </a:xfrm>
          <a:prstGeom prst="rect">
            <a:avLst/>
          </a:prstGeom>
          <a:solidFill>
            <a:srgbClr val="F2F2F2"/>
          </a:solidFill>
          <a:ln w="635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627632" y="2487168"/>
            <a:ext cx="131673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</a:rPr>
              <a:t>0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971800" y="2478024"/>
            <a:ext cx="1463040" cy="566928"/>
          </a:xfrm>
          <a:prstGeom prst="rect">
            <a:avLst/>
          </a:prstGeom>
          <a:solidFill>
            <a:srgbClr val="F2F2F2"/>
          </a:solidFill>
          <a:ln w="635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999232" y="2487168"/>
            <a:ext cx="140817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</a:rPr>
              <a:t>2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434840" y="2478024"/>
            <a:ext cx="1371600" cy="566928"/>
          </a:xfrm>
          <a:prstGeom prst="rect">
            <a:avLst/>
          </a:prstGeom>
          <a:solidFill>
            <a:srgbClr val="E2EFDA"/>
          </a:solidFill>
          <a:ln w="635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462272" y="2487168"/>
            <a:ext cx="131673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</a:rPr>
              <a:t>2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806440" y="2478024"/>
            <a:ext cx="1371600" cy="566928"/>
          </a:xfrm>
          <a:prstGeom prst="rect">
            <a:avLst/>
          </a:prstGeom>
          <a:solidFill>
            <a:srgbClr val="F2F2F2"/>
          </a:solidFill>
          <a:ln w="635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833872" y="2487168"/>
            <a:ext cx="131673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</a:rPr>
              <a:t>0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178040" y="2478024"/>
            <a:ext cx="3200400" cy="566928"/>
          </a:xfrm>
          <a:prstGeom prst="rect">
            <a:avLst/>
          </a:prstGeom>
          <a:solidFill>
            <a:srgbClr val="F2F2F2"/>
          </a:solidFill>
          <a:ln w="635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205472" y="2487168"/>
            <a:ext cx="314553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</a:rPr>
              <a:t>Xforce Pre trắng 2024
Xforce Exceed 2024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0378440" y="2478024"/>
            <a:ext cx="1463040" cy="566928"/>
          </a:xfrm>
          <a:prstGeom prst="rect">
            <a:avLst/>
          </a:prstGeom>
          <a:solidFill>
            <a:srgbClr val="F2F2F2"/>
          </a:solidFill>
          <a:ln w="635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0405872" y="2487168"/>
            <a:ext cx="140817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</a:rPr>
              <a:t>H. Vũ Lộc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37160" y="3044952"/>
            <a:ext cx="146304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64592" y="3054096"/>
            <a:ext cx="140817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0000"/>
                </a:solidFill>
              </a:rPr>
              <a:t>Outlander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600200" y="3044952"/>
            <a:ext cx="13716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627632" y="3054096"/>
            <a:ext cx="131673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</a:rPr>
              <a:t>0</a:t>
            </a:r>
          </a:p>
        </p:txBody>
      </p:sp>
      <p:sp>
        <p:nvSpPr>
          <p:cNvPr id="64" name="Rectangle 63"/>
          <p:cNvSpPr/>
          <p:nvPr/>
        </p:nvSpPr>
        <p:spPr>
          <a:xfrm>
            <a:off x="2971800" y="3044952"/>
            <a:ext cx="146304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2999232" y="3054096"/>
            <a:ext cx="140817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</a:rPr>
              <a:t>0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434840" y="3044952"/>
            <a:ext cx="13716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462272" y="3054096"/>
            <a:ext cx="131673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</a:rPr>
              <a:t>0</a:t>
            </a:r>
          </a:p>
        </p:txBody>
      </p:sp>
      <p:sp>
        <p:nvSpPr>
          <p:cNvPr id="68" name="Rectangle 67"/>
          <p:cNvSpPr/>
          <p:nvPr/>
        </p:nvSpPr>
        <p:spPr>
          <a:xfrm>
            <a:off x="5806440" y="3044952"/>
            <a:ext cx="13716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5833872" y="3054096"/>
            <a:ext cx="131673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</a:rPr>
              <a:t>0</a:t>
            </a:r>
          </a:p>
        </p:txBody>
      </p:sp>
      <p:sp>
        <p:nvSpPr>
          <p:cNvPr id="70" name="Rectangle 69"/>
          <p:cNvSpPr/>
          <p:nvPr/>
        </p:nvSpPr>
        <p:spPr>
          <a:xfrm>
            <a:off x="7178040" y="3044952"/>
            <a:ext cx="32004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7205472" y="3054096"/>
            <a:ext cx="314553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</a:rPr>
              <a:t>—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0378440" y="3044952"/>
            <a:ext cx="146304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10405872" y="3054096"/>
            <a:ext cx="140817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</a:rPr>
              <a:t>—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37160" y="3611880"/>
            <a:ext cx="1463040" cy="566928"/>
          </a:xfrm>
          <a:prstGeom prst="rect">
            <a:avLst/>
          </a:prstGeom>
          <a:solidFill>
            <a:srgbClr val="F2F2F2"/>
          </a:solidFill>
          <a:ln w="635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64592" y="3621024"/>
            <a:ext cx="140817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0000"/>
                </a:solidFill>
              </a:rPr>
              <a:t>Triton</a:t>
            </a:r>
          </a:p>
        </p:txBody>
      </p:sp>
      <p:sp>
        <p:nvSpPr>
          <p:cNvPr id="76" name="Rectangle 75"/>
          <p:cNvSpPr/>
          <p:nvPr/>
        </p:nvSpPr>
        <p:spPr>
          <a:xfrm>
            <a:off x="1600200" y="3611880"/>
            <a:ext cx="1371600" cy="566928"/>
          </a:xfrm>
          <a:prstGeom prst="rect">
            <a:avLst/>
          </a:prstGeom>
          <a:solidFill>
            <a:srgbClr val="F2F2F2"/>
          </a:solidFill>
          <a:ln w="635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1627632" y="3621024"/>
            <a:ext cx="131673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</a:rPr>
              <a:t>0</a:t>
            </a:r>
          </a:p>
        </p:txBody>
      </p:sp>
      <p:sp>
        <p:nvSpPr>
          <p:cNvPr id="78" name="Rectangle 77"/>
          <p:cNvSpPr/>
          <p:nvPr/>
        </p:nvSpPr>
        <p:spPr>
          <a:xfrm>
            <a:off x="2971800" y="3611880"/>
            <a:ext cx="1463040" cy="566928"/>
          </a:xfrm>
          <a:prstGeom prst="rect">
            <a:avLst/>
          </a:prstGeom>
          <a:solidFill>
            <a:srgbClr val="F2F2F2"/>
          </a:solidFill>
          <a:ln w="635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999232" y="3621024"/>
            <a:ext cx="140817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</a:rPr>
              <a:t>0</a:t>
            </a:r>
          </a:p>
        </p:txBody>
      </p:sp>
      <p:sp>
        <p:nvSpPr>
          <p:cNvPr id="80" name="Rectangle 79"/>
          <p:cNvSpPr/>
          <p:nvPr/>
        </p:nvSpPr>
        <p:spPr>
          <a:xfrm>
            <a:off x="4434840" y="3611880"/>
            <a:ext cx="1371600" cy="566928"/>
          </a:xfrm>
          <a:prstGeom prst="rect">
            <a:avLst/>
          </a:prstGeom>
          <a:solidFill>
            <a:srgbClr val="F2F2F2"/>
          </a:solidFill>
          <a:ln w="635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4462272" y="3621024"/>
            <a:ext cx="131673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</a:rPr>
              <a:t>0</a:t>
            </a:r>
          </a:p>
        </p:txBody>
      </p:sp>
      <p:sp>
        <p:nvSpPr>
          <p:cNvPr id="82" name="Rectangle 81"/>
          <p:cNvSpPr/>
          <p:nvPr/>
        </p:nvSpPr>
        <p:spPr>
          <a:xfrm>
            <a:off x="5806440" y="3611880"/>
            <a:ext cx="1371600" cy="566928"/>
          </a:xfrm>
          <a:prstGeom prst="rect">
            <a:avLst/>
          </a:prstGeom>
          <a:solidFill>
            <a:srgbClr val="F2F2F2"/>
          </a:solidFill>
          <a:ln w="635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5833872" y="3621024"/>
            <a:ext cx="131673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</a:rPr>
              <a:t>0</a:t>
            </a:r>
          </a:p>
        </p:txBody>
      </p:sp>
      <p:sp>
        <p:nvSpPr>
          <p:cNvPr id="84" name="Rectangle 83"/>
          <p:cNvSpPr/>
          <p:nvPr/>
        </p:nvSpPr>
        <p:spPr>
          <a:xfrm>
            <a:off x="7178040" y="3611880"/>
            <a:ext cx="3200400" cy="566928"/>
          </a:xfrm>
          <a:prstGeom prst="rect">
            <a:avLst/>
          </a:prstGeom>
          <a:solidFill>
            <a:srgbClr val="F2F2F2"/>
          </a:solidFill>
          <a:ln w="635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7205472" y="3621024"/>
            <a:ext cx="314553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</a:rPr>
              <a:t>—</a:t>
            </a:r>
          </a:p>
        </p:txBody>
      </p:sp>
      <p:sp>
        <p:nvSpPr>
          <p:cNvPr id="86" name="Rectangle 85"/>
          <p:cNvSpPr/>
          <p:nvPr/>
        </p:nvSpPr>
        <p:spPr>
          <a:xfrm>
            <a:off x="10378440" y="3611880"/>
            <a:ext cx="1463040" cy="566928"/>
          </a:xfrm>
          <a:prstGeom prst="rect">
            <a:avLst/>
          </a:prstGeom>
          <a:solidFill>
            <a:srgbClr val="F2F2F2"/>
          </a:solidFill>
          <a:ln w="635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10405872" y="3621024"/>
            <a:ext cx="140817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</a:rPr>
              <a:t>—</a:t>
            </a:r>
          </a:p>
        </p:txBody>
      </p:sp>
      <p:sp>
        <p:nvSpPr>
          <p:cNvPr id="88" name="Rectangle 87"/>
          <p:cNvSpPr/>
          <p:nvPr/>
        </p:nvSpPr>
        <p:spPr>
          <a:xfrm>
            <a:off x="137160" y="4178807"/>
            <a:ext cx="146304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164592" y="4187951"/>
            <a:ext cx="140817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0000"/>
                </a:solidFill>
              </a:rPr>
              <a:t>Pajero Sport</a:t>
            </a:r>
          </a:p>
        </p:txBody>
      </p:sp>
      <p:sp>
        <p:nvSpPr>
          <p:cNvPr id="90" name="Rectangle 89"/>
          <p:cNvSpPr/>
          <p:nvPr/>
        </p:nvSpPr>
        <p:spPr>
          <a:xfrm>
            <a:off x="1600200" y="4178807"/>
            <a:ext cx="13716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1627632" y="4187951"/>
            <a:ext cx="131673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</a:rPr>
              <a:t>0</a:t>
            </a:r>
          </a:p>
        </p:txBody>
      </p:sp>
      <p:sp>
        <p:nvSpPr>
          <p:cNvPr id="92" name="Rectangle 91"/>
          <p:cNvSpPr/>
          <p:nvPr/>
        </p:nvSpPr>
        <p:spPr>
          <a:xfrm>
            <a:off x="2971800" y="4178807"/>
            <a:ext cx="146304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2999232" y="4187951"/>
            <a:ext cx="140817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</a:rPr>
              <a:t>0</a:t>
            </a:r>
          </a:p>
        </p:txBody>
      </p:sp>
      <p:sp>
        <p:nvSpPr>
          <p:cNvPr id="94" name="Rectangle 93"/>
          <p:cNvSpPr/>
          <p:nvPr/>
        </p:nvSpPr>
        <p:spPr>
          <a:xfrm>
            <a:off x="4434840" y="4178807"/>
            <a:ext cx="13716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4462272" y="4187951"/>
            <a:ext cx="131673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</a:rPr>
              <a:t>0</a:t>
            </a:r>
          </a:p>
        </p:txBody>
      </p:sp>
      <p:sp>
        <p:nvSpPr>
          <p:cNvPr id="96" name="Rectangle 95"/>
          <p:cNvSpPr/>
          <p:nvPr/>
        </p:nvSpPr>
        <p:spPr>
          <a:xfrm>
            <a:off x="5806440" y="4178807"/>
            <a:ext cx="13716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5833872" y="4187951"/>
            <a:ext cx="131673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</a:rPr>
              <a:t>0</a:t>
            </a:r>
          </a:p>
        </p:txBody>
      </p:sp>
      <p:sp>
        <p:nvSpPr>
          <p:cNvPr id="98" name="Rectangle 97"/>
          <p:cNvSpPr/>
          <p:nvPr/>
        </p:nvSpPr>
        <p:spPr>
          <a:xfrm>
            <a:off x="7178040" y="4178807"/>
            <a:ext cx="32004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7205472" y="4187951"/>
            <a:ext cx="314553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</a:rPr>
              <a:t>—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10378440" y="4178807"/>
            <a:ext cx="146304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10405872" y="4187951"/>
            <a:ext cx="140817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</a:rPr>
              <a:t>—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137160" y="4745736"/>
            <a:ext cx="1463040" cy="566928"/>
          </a:xfrm>
          <a:prstGeom prst="rect">
            <a:avLst/>
          </a:prstGeom>
          <a:solidFill>
            <a:srgbClr val="FFD700"/>
          </a:solidFill>
          <a:ln w="635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164592" y="4754879"/>
            <a:ext cx="140817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0000"/>
                </a:solidFill>
              </a:rPr>
              <a:t>TỔNG CỘNG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1600200" y="4745736"/>
            <a:ext cx="1371600" cy="566928"/>
          </a:xfrm>
          <a:prstGeom prst="rect">
            <a:avLst/>
          </a:prstGeom>
          <a:solidFill>
            <a:srgbClr val="FFD700"/>
          </a:solidFill>
          <a:ln w="635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1627632" y="4754879"/>
            <a:ext cx="131673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0000"/>
                </a:solidFill>
              </a:rPr>
              <a:t>3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2971800" y="4745736"/>
            <a:ext cx="1463040" cy="566928"/>
          </a:xfrm>
          <a:prstGeom prst="rect">
            <a:avLst/>
          </a:prstGeom>
          <a:solidFill>
            <a:srgbClr val="FFD700"/>
          </a:solidFill>
          <a:ln w="635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2999232" y="4754879"/>
            <a:ext cx="140817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0000"/>
                </a:solidFill>
              </a:rPr>
              <a:t>8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4434840" y="4745736"/>
            <a:ext cx="1371600" cy="566928"/>
          </a:xfrm>
          <a:prstGeom prst="rect">
            <a:avLst/>
          </a:prstGeom>
          <a:solidFill>
            <a:srgbClr val="FFD700"/>
          </a:solidFill>
          <a:ln w="635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4462272" y="4754879"/>
            <a:ext cx="131673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0000"/>
                </a:solidFill>
              </a:rPr>
              <a:t>7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5806440" y="4745736"/>
            <a:ext cx="1371600" cy="566928"/>
          </a:xfrm>
          <a:prstGeom prst="rect">
            <a:avLst/>
          </a:prstGeom>
          <a:solidFill>
            <a:srgbClr val="FFD700"/>
          </a:solidFill>
          <a:ln w="635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5833872" y="4754879"/>
            <a:ext cx="131673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0000"/>
                </a:solidFill>
              </a:rPr>
              <a:t>4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7178040" y="4745736"/>
            <a:ext cx="3200400" cy="566928"/>
          </a:xfrm>
          <a:prstGeom prst="rect">
            <a:avLst/>
          </a:prstGeom>
          <a:solidFill>
            <a:srgbClr val="FFD700"/>
          </a:solidFill>
          <a:ln w="635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7205472" y="4754879"/>
            <a:ext cx="314553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0000"/>
                </a:solidFill>
              </a:rPr>
              <a:t/>
            </a:r>
          </a:p>
        </p:txBody>
      </p:sp>
      <p:sp>
        <p:nvSpPr>
          <p:cNvPr id="114" name="Rectangle 113"/>
          <p:cNvSpPr/>
          <p:nvPr/>
        </p:nvSpPr>
        <p:spPr>
          <a:xfrm>
            <a:off x="10378440" y="4745736"/>
            <a:ext cx="1463040" cy="566928"/>
          </a:xfrm>
          <a:prstGeom prst="rect">
            <a:avLst/>
          </a:prstGeom>
          <a:solidFill>
            <a:srgbClr val="FFD700"/>
          </a:solidFill>
          <a:ln w="635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10405872" y="4754879"/>
            <a:ext cx="140817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0000"/>
                </a:solidFill>
              </a:rPr>
              <a:t/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91440"/>
            <a:ext cx="1179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BIỂU ĐỒ PHÂN TÍCH THEO DÒNG XE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274320" y="731520"/>
          <a:ext cx="7132320" cy="5486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7589520" y="731520"/>
          <a:ext cx="4389120" cy="54864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91440"/>
            <a:ext cx="1179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THÔNG TIN XE TỒN KHO CUỐI THÁNG 4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77240"/>
            <a:ext cx="548640" cy="594360"/>
          </a:xfrm>
          <a:prstGeom prst="rect">
            <a:avLst/>
          </a:prstGeom>
          <a:solidFill>
            <a:srgbClr val="C00000"/>
          </a:solidFill>
          <a:ln w="635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01751" y="786384"/>
            <a:ext cx="493776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STT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59" y="777240"/>
            <a:ext cx="3200400" cy="594360"/>
          </a:xfrm>
          <a:prstGeom prst="rect">
            <a:avLst/>
          </a:prstGeom>
          <a:solidFill>
            <a:srgbClr val="C00000"/>
          </a:solidFill>
          <a:ln w="635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786384"/>
            <a:ext cx="3145536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TÊN XE</a:t>
            </a:r>
          </a:p>
        </p:txBody>
      </p:sp>
      <p:sp>
        <p:nvSpPr>
          <p:cNvPr id="8" name="Rectangle 7"/>
          <p:cNvSpPr/>
          <p:nvPr/>
        </p:nvSpPr>
        <p:spPr>
          <a:xfrm>
            <a:off x="4023360" y="777240"/>
            <a:ext cx="1097280" cy="594360"/>
          </a:xfrm>
          <a:prstGeom prst="rect">
            <a:avLst/>
          </a:prstGeom>
          <a:solidFill>
            <a:srgbClr val="C00000"/>
          </a:solidFill>
          <a:ln w="635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050792" y="786384"/>
            <a:ext cx="1042415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NĂM SX</a:t>
            </a:r>
          </a:p>
        </p:txBody>
      </p:sp>
      <p:sp>
        <p:nvSpPr>
          <p:cNvPr id="10" name="Rectangle 9"/>
          <p:cNvSpPr/>
          <p:nvPr/>
        </p:nvSpPr>
        <p:spPr>
          <a:xfrm>
            <a:off x="5120640" y="777240"/>
            <a:ext cx="4114800" cy="594360"/>
          </a:xfrm>
          <a:prstGeom prst="rect">
            <a:avLst/>
          </a:prstGeom>
          <a:solidFill>
            <a:srgbClr val="C00000"/>
          </a:solidFill>
          <a:ln w="635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48072" y="786384"/>
            <a:ext cx="4059936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TÌNH TRẠNG DỌN XE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235440" y="777240"/>
            <a:ext cx="2834640" cy="594360"/>
          </a:xfrm>
          <a:prstGeom prst="rect">
            <a:avLst/>
          </a:prstGeom>
          <a:solidFill>
            <a:srgbClr val="C00000"/>
          </a:solidFill>
          <a:ln w="635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262872" y="786384"/>
            <a:ext cx="2779776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GHI CHÚ / ƯU TIÊN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1371600"/>
            <a:ext cx="548640" cy="594360"/>
          </a:xfrm>
          <a:prstGeom prst="rect">
            <a:avLst/>
          </a:prstGeom>
          <a:solidFill>
            <a:srgbClr val="F2F2F2"/>
          </a:solidFill>
          <a:ln w="635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1751" y="1380744"/>
            <a:ext cx="493776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000000"/>
                </a:solidFill>
              </a:rPr>
              <a:t>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59" y="1371600"/>
            <a:ext cx="3200400" cy="594360"/>
          </a:xfrm>
          <a:prstGeom prst="rect">
            <a:avLst/>
          </a:prstGeom>
          <a:solidFill>
            <a:srgbClr val="F2F2F2"/>
          </a:solidFill>
          <a:ln w="635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0392" y="1380744"/>
            <a:ext cx="3145536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00000"/>
                </a:solidFill>
              </a:rPr>
              <a:t>Xpander Cross Trắng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023360" y="1371600"/>
            <a:ext cx="1097280" cy="594360"/>
          </a:xfrm>
          <a:prstGeom prst="rect">
            <a:avLst/>
          </a:prstGeom>
          <a:solidFill>
            <a:srgbClr val="F2F2F2"/>
          </a:solidFill>
          <a:ln w="635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050792" y="1380744"/>
            <a:ext cx="1042415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000000"/>
                </a:solidFill>
              </a:rPr>
              <a:t>2024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120640" y="1371600"/>
            <a:ext cx="4114800" cy="594360"/>
          </a:xfrm>
          <a:prstGeom prst="rect">
            <a:avLst/>
          </a:prstGeom>
          <a:solidFill>
            <a:srgbClr val="F2F2F2"/>
          </a:solidFill>
          <a:ln w="635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48072" y="1380744"/>
            <a:ext cx="4059936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00000"/>
                </a:solidFill>
              </a:rPr>
              <a:t>Dọn 160đ + Nội thất + Đồng sơn cần hoàn thiện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235440" y="1371600"/>
            <a:ext cx="2834640" cy="594360"/>
          </a:xfrm>
          <a:prstGeom prst="rect">
            <a:avLst/>
          </a:prstGeom>
          <a:solidFill>
            <a:srgbClr val="F2F2F2"/>
          </a:solidFill>
          <a:ln w="635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62872" y="1380744"/>
            <a:ext cx="2779776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00000"/>
                </a:solidFill>
              </a:rPr>
              <a:t>⚡ Ưu tiên bán sớm — xe mới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1965960"/>
            <a:ext cx="54864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01751" y="1975103"/>
            <a:ext cx="493776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000000"/>
                </a:solidFill>
              </a:rPr>
              <a:t>2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59" y="1965960"/>
            <a:ext cx="32004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0392" y="1975103"/>
            <a:ext cx="3145536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00000"/>
                </a:solidFill>
              </a:rPr>
              <a:t>Xpander Cross Cam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023360" y="1965960"/>
            <a:ext cx="109728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050792" y="1975103"/>
            <a:ext cx="1042415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000000"/>
                </a:solidFill>
              </a:rPr>
              <a:t>2023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120640" y="1965960"/>
            <a:ext cx="41148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148072" y="1975103"/>
            <a:ext cx="4059936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00000"/>
                </a:solidFill>
              </a:rPr>
              <a:t>Chờ đánh giá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235440" y="1965960"/>
            <a:ext cx="283464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262872" y="1975103"/>
            <a:ext cx="2779776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00000"/>
                </a:solidFill>
              </a:rPr>
              <a:t>Cần lên kế hoạch dọn xe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4320" y="2560320"/>
            <a:ext cx="548640" cy="594360"/>
          </a:xfrm>
          <a:prstGeom prst="rect">
            <a:avLst/>
          </a:prstGeom>
          <a:solidFill>
            <a:srgbClr val="F2F2F2"/>
          </a:solidFill>
          <a:ln w="635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01751" y="2569464"/>
            <a:ext cx="493776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000000"/>
                </a:solidFill>
              </a:rPr>
              <a:t>3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22959" y="2560320"/>
            <a:ext cx="3200400" cy="594360"/>
          </a:xfrm>
          <a:prstGeom prst="rect">
            <a:avLst/>
          </a:prstGeom>
          <a:solidFill>
            <a:srgbClr val="F2F2F2"/>
          </a:solidFill>
          <a:ln w="635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50392" y="2569464"/>
            <a:ext cx="3145536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00000"/>
                </a:solidFill>
              </a:rPr>
              <a:t>Xpander Cross Đen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023360" y="2560320"/>
            <a:ext cx="1097280" cy="594360"/>
          </a:xfrm>
          <a:prstGeom prst="rect">
            <a:avLst/>
          </a:prstGeom>
          <a:solidFill>
            <a:srgbClr val="F2F2F2"/>
          </a:solidFill>
          <a:ln w="635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050792" y="2569464"/>
            <a:ext cx="1042415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000000"/>
                </a:solidFill>
              </a:rPr>
              <a:t>2022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120640" y="2560320"/>
            <a:ext cx="4114800" cy="594360"/>
          </a:xfrm>
          <a:prstGeom prst="rect">
            <a:avLst/>
          </a:prstGeom>
          <a:solidFill>
            <a:srgbClr val="F2F2F2"/>
          </a:solidFill>
          <a:ln w="635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148072" y="2569464"/>
            <a:ext cx="4059936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00000"/>
                </a:solidFill>
              </a:rPr>
              <a:t>160đ ✓ | Dọn nội thất đang làm | Dự kiến 18/4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235440" y="2560320"/>
            <a:ext cx="2834640" cy="594360"/>
          </a:xfrm>
          <a:prstGeom prst="rect">
            <a:avLst/>
          </a:prstGeom>
          <a:solidFill>
            <a:srgbClr val="F2F2F2"/>
          </a:solidFill>
          <a:ln w="635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262872" y="2569464"/>
            <a:ext cx="2779776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00000"/>
                </a:solidFill>
              </a:rPr>
              <a:t>Xe sơn nguyên con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74320" y="3154680"/>
            <a:ext cx="54864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01751" y="3163824"/>
            <a:ext cx="493776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000000"/>
                </a:solidFill>
              </a:rPr>
              <a:t>4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22959" y="3154680"/>
            <a:ext cx="32004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50392" y="3163824"/>
            <a:ext cx="3145536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00000"/>
                </a:solidFill>
              </a:rPr>
              <a:t>Xpander Prestige Bạc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023360" y="3154680"/>
            <a:ext cx="109728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050792" y="3163824"/>
            <a:ext cx="1042415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000000"/>
                </a:solidFill>
              </a:rPr>
              <a:t>2025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120640" y="3154680"/>
            <a:ext cx="41148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148072" y="3163824"/>
            <a:ext cx="4059936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00000"/>
                </a:solidFill>
              </a:rPr>
              <a:t>Chờ tiến hành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235440" y="3154680"/>
            <a:ext cx="283464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262872" y="3163824"/>
            <a:ext cx="2779776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00000"/>
                </a:solidFill>
              </a:rPr>
              <a:t>🔥 Xe mới nhất — giá trị cao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74320" y="4526280"/>
            <a:ext cx="11612880" cy="73152"/>
          </a:xfrm>
          <a:prstGeom prst="rect">
            <a:avLst/>
          </a:prstGeom>
          <a:solidFill>
            <a:srgbClr val="FF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74320" y="4663440"/>
            <a:ext cx="11612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8B0000"/>
                </a:solidFill>
              </a:rPr>
              <a:t>⚠  4 xe Xpander đang tồn — cần đẩy mạnh tư vấn và chạy promotion tháng 5 để giải phóng tồn kho.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91440"/>
            <a:ext cx="1179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PHÂN TÍCH KẾT QUẢ THÁNG 4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" y="731520"/>
            <a:ext cx="5760720" cy="2743200"/>
          </a:xfrm>
          <a:prstGeom prst="rect">
            <a:avLst/>
          </a:prstGeom>
          <a:solidFill>
            <a:srgbClr val="007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822960"/>
            <a:ext cx="5577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✅ ĐIỂM MẠNH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" y="1188720"/>
            <a:ext cx="5760720" cy="2286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234440"/>
            <a:ext cx="548640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• Attrage: bán 3/2 xe thu — vượt mục tiêu
• Xforce: thu 2 xe, lên HĐ ngay 2 xe — tỷ lệ 100%
• Sale H. Vũ Lộc: hiệu suất cao, chốt nhanh
• Tiến độ dọn xe đúng kế hoạch (Attrage xám, Xforce)</a:t>
            </a:r>
          </a:p>
        </p:txBody>
      </p:sp>
      <p:sp>
        <p:nvSpPr>
          <p:cNvPr id="8" name="Rectangle 7"/>
          <p:cNvSpPr/>
          <p:nvPr/>
        </p:nvSpPr>
        <p:spPr>
          <a:xfrm>
            <a:off x="6245352" y="731520"/>
            <a:ext cx="5760720" cy="27432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36792" y="822960"/>
            <a:ext cx="5577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❌ ĐIỂM YẾU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45352" y="1188720"/>
            <a:ext cx="5760720" cy="2286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82512" y="1234440"/>
            <a:ext cx="548640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• Tuần 2, 3, 4 không thu thêm xe — cạn nguồn đầu vào
• Xpander: thu 4 nhưng chỉ bán 2, tồn 4 xe cuối tháng
• Sale 'Chậm': cần cải thiện tốc độ chốt HĐ
• Tỷ lệ tổng thể chỉ 38% mục tiêu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2880" y="3703320"/>
            <a:ext cx="5760720" cy="2743200"/>
          </a:xfrm>
          <a:prstGeom prst="rect">
            <a:avLst/>
          </a:prstGeom>
          <a:solidFill>
            <a:srgbClr val="0050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3794759"/>
            <a:ext cx="5577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🚀 CƠ HỘI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82880" y="4160520"/>
            <a:ext cx="5760720" cy="2286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0040" y="4206240"/>
            <a:ext cx="548640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• 4 Xpander tồn kho đa dạng — nhiều lựa chọn cho KH
• Xpander Prestige 2025 (mới nhất) — lợi thế cạnh tranh
• Thị trường xe cũ tháng 5 sôi động sau nghỉ lễ 30/4
• Có thể tăng cường kênh online để thu xe từ khách hàng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45352" y="3703320"/>
            <a:ext cx="5760720" cy="2743200"/>
          </a:xfrm>
          <a:prstGeom prst="rect">
            <a:avLst/>
          </a:prstGeom>
          <a:solidFill>
            <a:srgbClr val="FF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36792" y="3794759"/>
            <a:ext cx="5577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⚠  THÁCH THỨC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45352" y="4160520"/>
            <a:ext cx="5760720" cy="2286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82512" y="4206240"/>
            <a:ext cx="548640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• Nguồn thu xe trong tháng thấp — cần mở rộng kênh
• Cạnh tranh từ đại lý xe cũ khác tại khu vực
• Chi phí dọn xe (160đ + đồng sơn) ảnh hưởng biên lợi nhuận
• Tồn kho Xpander lâu ngày làm giảm giá trị xe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91440"/>
            <a:ext cx="1179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KẾ HOẠCH HÀNH ĐỘNG THÁNG 5/2025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" y="685800"/>
            <a:ext cx="11795760" cy="4572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731520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8B0000"/>
                </a:solidFill>
              </a:rPr>
              <a:t>🎯  MỤC TIÊU THÁNG 5:  Thu xe ≥ 10 xe  |  Bán ≥ 8 xe  |  Giải phóng toàn bộ tồn kho Xpander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" y="1234440"/>
            <a:ext cx="2103120" cy="566928"/>
          </a:xfrm>
          <a:prstGeom prst="rect">
            <a:avLst/>
          </a:prstGeom>
          <a:solidFill>
            <a:srgbClr val="404040"/>
          </a:solidFill>
          <a:ln w="635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10312" y="1243584"/>
            <a:ext cx="20482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HẠNG MỤC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0" y="1234440"/>
            <a:ext cx="5029200" cy="566928"/>
          </a:xfrm>
          <a:prstGeom prst="rect">
            <a:avLst/>
          </a:prstGeom>
          <a:solidFill>
            <a:srgbClr val="404040"/>
          </a:solidFill>
          <a:ln w="635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313432" y="1243584"/>
            <a:ext cx="497433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HÀNH ĐỘNG CỤ THỂ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0" y="1234440"/>
            <a:ext cx="1828800" cy="566928"/>
          </a:xfrm>
          <a:prstGeom prst="rect">
            <a:avLst/>
          </a:prstGeom>
          <a:solidFill>
            <a:srgbClr val="404040"/>
          </a:solidFill>
          <a:ln w="635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42631" y="1243584"/>
            <a:ext cx="177393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NGƯỜI THỰC HIỆN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0" y="1234440"/>
            <a:ext cx="1371600" cy="566928"/>
          </a:xfrm>
          <a:prstGeom prst="rect">
            <a:avLst/>
          </a:prstGeom>
          <a:solidFill>
            <a:srgbClr val="404040"/>
          </a:solidFill>
          <a:ln w="635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71432" y="1243584"/>
            <a:ext cx="131673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DEADLINE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515600" y="1234440"/>
            <a:ext cx="1554480" cy="566928"/>
          </a:xfrm>
          <a:prstGeom prst="rect">
            <a:avLst/>
          </a:prstGeom>
          <a:solidFill>
            <a:srgbClr val="404040"/>
          </a:solidFill>
          <a:ln w="635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43032" y="1243584"/>
            <a:ext cx="149961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KPI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801368"/>
            <a:ext cx="2103120" cy="566928"/>
          </a:xfrm>
          <a:prstGeom prst="rect">
            <a:avLst/>
          </a:prstGeom>
          <a:solidFill>
            <a:srgbClr val="F2F2F2"/>
          </a:solidFill>
          <a:ln w="635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" y="1810512"/>
            <a:ext cx="20482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0000"/>
                </a:solidFill>
              </a:rPr>
              <a:t>1. Tăng nguồn thu xe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86000" y="1801368"/>
            <a:ext cx="5029200" cy="566928"/>
          </a:xfrm>
          <a:prstGeom prst="rect">
            <a:avLst/>
          </a:prstGeom>
          <a:solidFill>
            <a:srgbClr val="F2F2F2"/>
          </a:solidFill>
          <a:ln w="635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313432" y="1810512"/>
            <a:ext cx="497433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</a:rPr>
              <a:t>- Đăng tuyển mua xe trên FB, Zalo, sàn TMĐT
- Liên hệ lại KH cũ, hỏi nhu cầu đổi xe
- Hợp tác môi giới thu xe ngoài đại lý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0" y="1801368"/>
            <a:ext cx="1828800" cy="566928"/>
          </a:xfrm>
          <a:prstGeom prst="rect">
            <a:avLst/>
          </a:prstGeom>
          <a:solidFill>
            <a:srgbClr val="F2F2F2"/>
          </a:solidFill>
          <a:ln w="635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42631" y="1810512"/>
            <a:ext cx="177393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</a:rPr>
              <a:t>Quản lý + Sales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44000" y="1801368"/>
            <a:ext cx="1371600" cy="566928"/>
          </a:xfrm>
          <a:prstGeom prst="rect">
            <a:avLst/>
          </a:prstGeom>
          <a:solidFill>
            <a:srgbClr val="F2F2F2"/>
          </a:solidFill>
          <a:ln w="635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71432" y="1810512"/>
            <a:ext cx="131673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</a:rPr>
              <a:t>Tuần 1–2/5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515600" y="1801368"/>
            <a:ext cx="1554480" cy="566928"/>
          </a:xfrm>
          <a:prstGeom prst="rect">
            <a:avLst/>
          </a:prstGeom>
          <a:solidFill>
            <a:srgbClr val="F2F2F2"/>
          </a:solidFill>
          <a:ln w="635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543032" y="1810512"/>
            <a:ext cx="149961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</a:rPr>
              <a:t>≥ 10 xe thu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82880" y="2368296"/>
            <a:ext cx="210312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10312" y="2377439"/>
            <a:ext cx="20482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0000"/>
                </a:solidFill>
              </a:rPr>
              <a:t>2. Đẩy bán Xpander tồn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286000" y="2368296"/>
            <a:ext cx="50292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313432" y="2377439"/>
            <a:ext cx="497433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</a:rPr>
              <a:t>- Chạy promotion: ưu đãi phụ kiện / bảo hành thêm
- Ưu tiên giới thiệu Xpander 2025 cho KH quan tâm
- Đăng video test drive từng xe lên mạng xã hội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15200" y="2368296"/>
            <a:ext cx="18288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42631" y="2377439"/>
            <a:ext cx="177393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</a:rPr>
              <a:t>Sales + Marketing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144000" y="2368296"/>
            <a:ext cx="13716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71432" y="2377439"/>
            <a:ext cx="131673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</a:rPr>
              <a:t>Cả tháng 5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515600" y="2368296"/>
            <a:ext cx="155448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543032" y="2377439"/>
            <a:ext cx="149961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</a:rPr>
              <a:t>Bán ≥ 3 xe Xpander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82880" y="2935224"/>
            <a:ext cx="2103120" cy="566928"/>
          </a:xfrm>
          <a:prstGeom prst="rect">
            <a:avLst/>
          </a:prstGeom>
          <a:solidFill>
            <a:srgbClr val="F2F2F2"/>
          </a:solidFill>
          <a:ln w="635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10312" y="2944368"/>
            <a:ext cx="20482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0000"/>
                </a:solidFill>
              </a:rPr>
              <a:t>3. Nâng hiệu suất Sale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286000" y="2935224"/>
            <a:ext cx="5029200" cy="566928"/>
          </a:xfrm>
          <a:prstGeom prst="rect">
            <a:avLst/>
          </a:prstGeom>
          <a:solidFill>
            <a:srgbClr val="F2F2F2"/>
          </a:solidFill>
          <a:ln w="635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313432" y="2944368"/>
            <a:ext cx="497433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</a:rPr>
              <a:t>- Đào tạo kỹ năng chốt deal cho sale 'Chậm'
- Giao chỉ tiêu tuần, review mỗi thứ 2
- Thưởng nóng khi đạt chỉ tiêu tuần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315200" y="2935224"/>
            <a:ext cx="1828800" cy="566928"/>
          </a:xfrm>
          <a:prstGeom prst="rect">
            <a:avLst/>
          </a:prstGeom>
          <a:solidFill>
            <a:srgbClr val="F2F2F2"/>
          </a:solidFill>
          <a:ln w="635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342631" y="2944368"/>
            <a:ext cx="177393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</a:rPr>
              <a:t>Quản lý KD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144000" y="2935224"/>
            <a:ext cx="1371600" cy="566928"/>
          </a:xfrm>
          <a:prstGeom prst="rect">
            <a:avLst/>
          </a:prstGeom>
          <a:solidFill>
            <a:srgbClr val="F2F2F2"/>
          </a:solidFill>
          <a:ln w="635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171432" y="2944368"/>
            <a:ext cx="131673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</a:rPr>
              <a:t>Tuần 1/5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0515600" y="2935224"/>
            <a:ext cx="1554480" cy="566928"/>
          </a:xfrm>
          <a:prstGeom prst="rect">
            <a:avLst/>
          </a:prstGeom>
          <a:solidFill>
            <a:srgbClr val="F2F2F2"/>
          </a:solidFill>
          <a:ln w="635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543032" y="2944368"/>
            <a:ext cx="149961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</a:rPr>
              <a:t>KPI cá nhân ≥ 2xe/tháng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82880" y="3502152"/>
            <a:ext cx="210312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10312" y="3511296"/>
            <a:ext cx="20482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0000"/>
                </a:solidFill>
              </a:rPr>
              <a:t>4. Tối ưu dọn xe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286000" y="3502152"/>
            <a:ext cx="50292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313432" y="3511296"/>
            <a:ext cx="497433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</a:rPr>
              <a:t>- Hoàn tất đồng sơn Xpander Đen 2022 trước 20/5
- Lên lịch dọn Xpander 2023 và 2025 ngay đầu tháng
- Kiểm soát chi phí dọn xe &lt; ngân sách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315200" y="3502152"/>
            <a:ext cx="18288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342631" y="3511296"/>
            <a:ext cx="177393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</a:rPr>
              <a:t>Bộ phận kỹ thuật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144000" y="3502152"/>
            <a:ext cx="13716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171432" y="3511296"/>
            <a:ext cx="131673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</a:rPr>
              <a:t>Tuần 1–3/5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0515600" y="3502152"/>
            <a:ext cx="155448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543032" y="3511296"/>
            <a:ext cx="149961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</a:rPr>
              <a:t>Hoàn tất 4 xe tồn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82880" y="4069080"/>
            <a:ext cx="2103120" cy="566928"/>
          </a:xfrm>
          <a:prstGeom prst="rect">
            <a:avLst/>
          </a:prstGeom>
          <a:solidFill>
            <a:srgbClr val="F2F2F2"/>
          </a:solidFill>
          <a:ln w="635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10312" y="4078224"/>
            <a:ext cx="20482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0000"/>
                </a:solidFill>
              </a:rPr>
              <a:t>5. Báo cáo &amp; Review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286000" y="4069080"/>
            <a:ext cx="5029200" cy="566928"/>
          </a:xfrm>
          <a:prstGeom prst="rect">
            <a:avLst/>
          </a:prstGeom>
          <a:solidFill>
            <a:srgbClr val="F2F2F2"/>
          </a:solidFill>
          <a:ln w="635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313432" y="4078224"/>
            <a:ext cx="497433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</a:rPr>
              <a:t>- Báo cáo tuần mỗi thứ 6
- Review tổng tháng 5 vào 30/5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315200" y="4069080"/>
            <a:ext cx="1828800" cy="566928"/>
          </a:xfrm>
          <a:prstGeom prst="rect">
            <a:avLst/>
          </a:prstGeom>
          <a:solidFill>
            <a:srgbClr val="F2F2F2"/>
          </a:solidFill>
          <a:ln w="635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342631" y="4078224"/>
            <a:ext cx="177393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</a:rPr>
              <a:t>Quản lý KD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144000" y="4069080"/>
            <a:ext cx="1371600" cy="566928"/>
          </a:xfrm>
          <a:prstGeom prst="rect">
            <a:avLst/>
          </a:prstGeom>
          <a:solidFill>
            <a:srgbClr val="F2F2F2"/>
          </a:solidFill>
          <a:ln w="635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171432" y="4078224"/>
            <a:ext cx="131673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</a:rPr>
              <a:t>Hàng tuần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0515600" y="4069080"/>
            <a:ext cx="1554480" cy="566928"/>
          </a:xfrm>
          <a:prstGeom prst="rect">
            <a:avLst/>
          </a:prstGeom>
          <a:solidFill>
            <a:srgbClr val="F2F2F2"/>
          </a:solidFill>
          <a:ln w="635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0543032" y="4078224"/>
            <a:ext cx="149961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</a:rPr>
              <a:t>Báo cáo đúng hạn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731520"/>
            <a:ext cx="103601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</a:rPr>
              <a:t>KẾT LUẬN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0" y="1463040"/>
            <a:ext cx="8531352" cy="36576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1645920"/>
            <a:ext cx="944575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📊  Tháng 4 đạt 38% mục tiêu — cần cải thiện đáng kể nguồn thu xe.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450592"/>
            <a:ext cx="944575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🏆  Attrage và Xforce là điểm sáng — cần nhân rộng cách làm sang Xpander.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255264"/>
            <a:ext cx="944575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📦  4 xe Xpander tồn kho là ưu tiên số 1 của tháng 5.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4059936"/>
            <a:ext cx="944575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👥  Cần đầu tư đào tạo và tạo động lực cho đội sales để tăng tỷ lệ chốt.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4864608"/>
            <a:ext cx="944575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🎯  Mục tiêu tháng 5: Thu ≥ 10 xe, Bán ≥ 8 xe, Tỷ lệ thực hiện ≥ 80%.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76072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D700"/>
                </a:solidFill>
              </a:rPr>
              <a:t>Cùng nỗ lực — Bứt phá tháng 5! 🚀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